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7"/>
  </p:notesMasterIdLst>
  <p:sldIdLst>
    <p:sldId id="256" r:id="rId2"/>
    <p:sldId id="257" r:id="rId3"/>
    <p:sldId id="259" r:id="rId4"/>
    <p:sldId id="266" r:id="rId5"/>
    <p:sldId id="272" r:id="rId6"/>
    <p:sldId id="273" r:id="rId7"/>
    <p:sldId id="285" r:id="rId8"/>
    <p:sldId id="279" r:id="rId9"/>
    <p:sldId id="267" r:id="rId10"/>
    <p:sldId id="268" r:id="rId11"/>
    <p:sldId id="269" r:id="rId12"/>
    <p:sldId id="275" r:id="rId13"/>
    <p:sldId id="270" r:id="rId14"/>
    <p:sldId id="274" r:id="rId15"/>
    <p:sldId id="284" r:id="rId16"/>
    <p:sldId id="276" r:id="rId17"/>
    <p:sldId id="277" r:id="rId18"/>
    <p:sldId id="280" r:id="rId19"/>
    <p:sldId id="281" r:id="rId20"/>
    <p:sldId id="282" r:id="rId21"/>
    <p:sldId id="283" r:id="rId22"/>
    <p:sldId id="262" r:id="rId23"/>
    <p:sldId id="263" r:id="rId24"/>
    <p:sldId id="271" r:id="rId25"/>
    <p:sldId id="278" r:id="rId2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i8k4vfTcigBOvi1GPtpHoS9j9j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E8C58F-DA1C-49EA-A127-13DF788BC6A1}" v="21" dt="2026-01-06T05:26:28.5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364276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9844078D-FD83-4DC4-87B5-6EAC763D5906}" type="datetime1">
              <a:rPr lang="en-US" smtClean="0"/>
              <a:t>3/7/2026</a:t>
            </a:fld>
            <a:endParaRPr/>
          </a:p>
        </p:txBody>
      </p:sp>
      <p:sp>
        <p:nvSpPr>
          <p:cNvPr id="19" name="Google Shape;19;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1DF9AFC-F9E1-4479-91CA-51DE23BE06C0}" type="datetime1">
              <a:rPr lang="en-US" smtClean="0"/>
              <a:t>3/7/2026</a:t>
            </a:fld>
            <a:endParaRPr/>
          </a:p>
        </p:txBody>
      </p:sp>
      <p:sp>
        <p:nvSpPr>
          <p:cNvPr id="25" name="Google Shape;25;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9FC8BA9-0052-4A4B-AAC4-F1DA6E9A0951}" type="datetime1">
              <a:rPr lang="en-US" smtClean="0"/>
              <a:t>3/7/2026</a:t>
            </a:fld>
            <a:endParaRPr/>
          </a:p>
        </p:txBody>
      </p:sp>
      <p:sp>
        <p:nvSpPr>
          <p:cNvPr id="31" name="Google Shape;3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EE5975C-54BF-4B80-AA1D-34FEDE04C514}" type="datetime1">
              <a:rPr lang="en-US" smtClean="0"/>
              <a:t>3/7/2026</a:t>
            </a:fld>
            <a:endParaRPr/>
          </a:p>
        </p:txBody>
      </p:sp>
      <p:sp>
        <p:nvSpPr>
          <p:cNvPr id="38" name="Google Shape;3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935E131-B057-4B5A-921A-45A17AB83A39}" type="datetime1">
              <a:rPr lang="en-US" smtClean="0"/>
              <a:t>3/7/2026</a:t>
            </a:fld>
            <a:endParaRPr/>
          </a:p>
        </p:txBody>
      </p:sp>
      <p:sp>
        <p:nvSpPr>
          <p:cNvPr id="47" name="Google Shape;4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D410C21-D32E-4039-AC8D-8060CCD087C7}" type="datetime1">
              <a:rPr lang="en-US" smtClean="0"/>
              <a:t>3/7/2026</a:t>
            </a:fld>
            <a:endParaRPr/>
          </a:p>
        </p:txBody>
      </p:sp>
      <p:sp>
        <p:nvSpPr>
          <p:cNvPr id="52" name="Google Shape;5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0A53B7AA-96E4-419F-92E0-36D1AA42338F}" type="datetime1">
              <a:rPr lang="en-US" smtClean="0"/>
              <a:t>3/7/2026</a:t>
            </a:fld>
            <a:endParaRPr/>
          </a:p>
        </p:txBody>
      </p:sp>
      <p:sp>
        <p:nvSpPr>
          <p:cNvPr id="56" name="Google Shape;56;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842470F-944B-4F77-8D45-B63A55CC33FF}" type="datetime1">
              <a:rPr lang="en-US" smtClean="0"/>
              <a:t>3/7/2026</a:t>
            </a:fld>
            <a:endParaRPr/>
          </a:p>
        </p:txBody>
      </p:sp>
      <p:sp>
        <p:nvSpPr>
          <p:cNvPr id="63" name="Google Shape;6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1792288" y="612775"/>
            <a:ext cx="5486400" cy="4114800"/>
          </a:xfrm>
          <a:prstGeom prst="rect">
            <a:avLst/>
          </a:prstGeom>
          <a:noFill/>
          <a:ln>
            <a:noFill/>
          </a:ln>
        </p:spPr>
      </p:sp>
      <p:sp>
        <p:nvSpPr>
          <p:cNvPr id="68" name="Google Shape;68;p1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75A165D-5015-4ADC-9FF9-8C921860CB8C}" type="datetime1">
              <a:rPr lang="en-US" smtClean="0"/>
              <a:t>3/7/2026</a:t>
            </a:fld>
            <a:endParaRPr/>
          </a:p>
        </p:txBody>
      </p:sp>
      <p:sp>
        <p:nvSpPr>
          <p:cNvPr id="70" name="Google Shape;70;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D6CF090-41B5-4D51-B0EA-9CC4891ED4B8}" type="datetime1">
              <a:rPr lang="en-US" smtClean="0"/>
              <a:t>3/7/2026</a:t>
            </a:fld>
            <a:endParaRPr/>
          </a:p>
        </p:txBody>
      </p:sp>
      <p:sp>
        <p:nvSpPr>
          <p:cNvPr id="76" name="Google Shape;7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BF1B794-8BE6-4F88-BEF5-2F4D1E5B30A1}" type="datetime1">
              <a:rPr lang="en-US" smtClean="0"/>
              <a:t>3/7/2026</a:t>
            </a:fld>
            <a:endParaRPr/>
          </a:p>
        </p:txBody>
      </p:sp>
      <p:sp>
        <p:nvSpPr>
          <p:cNvPr id="82" name="Google Shape;8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9FC83D00-5052-4CBE-A416-5F7F5A2FF57A}" type="datetime1">
              <a:rPr lang="en-US" smtClean="0"/>
              <a:t>3/7/2026</a:t>
            </a:fld>
            <a:endParaRPr/>
          </a:p>
        </p:txBody>
      </p:sp>
      <p:sp>
        <p:nvSpPr>
          <p:cNvPr id="13" name="Google Shape;1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884177" y="2599222"/>
            <a:ext cx="7772400"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sz="2800" dirty="0">
                <a:latin typeface="Times New Roman" panose="02020603050405020304" pitchFamily="18" charset="0"/>
                <a:cs typeface="Times New Roman" panose="02020603050405020304" pitchFamily="18" charset="0"/>
              </a:rPr>
              <a:t>AI-Driven Smart Energy Optimization and Carbon Analytics Platform</a:t>
            </a:r>
            <a:endParaRPr sz="2800" dirty="0">
              <a:latin typeface="Times New Roman" panose="02020603050405020304" pitchFamily="18" charset="0"/>
              <a:cs typeface="Times New Roman" panose="02020603050405020304" pitchFamily="18" charset="0"/>
            </a:endParaRPr>
          </a:p>
        </p:txBody>
      </p:sp>
      <p:sp>
        <p:nvSpPr>
          <p:cNvPr id="89" name="Google Shape;89;p1"/>
          <p:cNvSpPr txBox="1">
            <a:spLocks noGrp="1"/>
          </p:cNvSpPr>
          <p:nvPr>
            <p:ph type="subTitle" idx="1"/>
          </p:nvPr>
        </p:nvSpPr>
        <p:spPr>
          <a:xfrm>
            <a:off x="4421432" y="4621458"/>
            <a:ext cx="4605337" cy="1981200"/>
          </a:xfrm>
          <a:prstGeom prst="rect">
            <a:avLst/>
          </a:prstGeom>
          <a:noFill/>
          <a:ln>
            <a:noFill/>
          </a:ln>
        </p:spPr>
        <p:txBody>
          <a:bodyPr spcFirstLastPara="1" wrap="square" lIns="91425" tIns="45700" rIns="91425" bIns="45700" anchor="t" anchorCtr="0">
            <a:noAutofit/>
          </a:bodyPr>
          <a:lstStyle/>
          <a:p>
            <a:pPr marL="0" indent="0">
              <a:spcBef>
                <a:spcPts val="0"/>
              </a:spcBef>
              <a:buSzPct val="100000"/>
            </a:pPr>
            <a:r>
              <a:rPr lang="en-US" sz="1600" dirty="0">
                <a:latin typeface="Times New Roman" panose="02020603050405020304" pitchFamily="18" charset="0"/>
                <a:cs typeface="Times New Roman" panose="02020603050405020304" pitchFamily="18" charset="0"/>
              </a:rPr>
              <a:t>Batch ID: 364</a:t>
            </a:r>
          </a:p>
          <a:p>
            <a:pPr marL="0" indent="0">
              <a:spcBef>
                <a:spcPts val="0"/>
              </a:spcBef>
              <a:buSzPct val="100000"/>
            </a:pPr>
            <a:endParaRPr lang="en-US" sz="1600"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Clr>
                <a:srgbClr val="888888"/>
              </a:buClr>
              <a:buSzPct val="100000"/>
              <a:buNone/>
            </a:pPr>
            <a:r>
              <a:rPr lang="en-US" sz="1600" dirty="0">
                <a:latin typeface="Times New Roman" panose="02020603050405020304" pitchFamily="18" charset="0"/>
                <a:cs typeface="Times New Roman" panose="02020603050405020304" pitchFamily="18" charset="0"/>
              </a:rPr>
              <a:t>Student 1 Reg. No: RA2211003010480</a:t>
            </a:r>
            <a:endParaRPr sz="1600" dirty="0">
              <a:latin typeface="Times New Roman" panose="02020603050405020304" pitchFamily="18" charset="0"/>
              <a:cs typeface="Times New Roman" panose="02020603050405020304" pitchFamily="18" charset="0"/>
            </a:endParaRPr>
          </a:p>
          <a:p>
            <a:pPr marL="0" indent="0">
              <a:spcBef>
                <a:spcPts val="592"/>
              </a:spcBef>
              <a:buSzPct val="100000"/>
            </a:pPr>
            <a:r>
              <a:rPr lang="en-US" sz="1600" dirty="0">
                <a:latin typeface="Times New Roman" panose="02020603050405020304" pitchFamily="18" charset="0"/>
                <a:cs typeface="Times New Roman" panose="02020603050405020304" pitchFamily="18" charset="0"/>
              </a:rPr>
              <a:t>Student 1 Name: Kavisha Arora</a:t>
            </a:r>
          </a:p>
          <a:p>
            <a:pPr marL="0" lvl="0" indent="0" algn="ctr" rtl="0">
              <a:spcBef>
                <a:spcPts val="592"/>
              </a:spcBef>
              <a:spcAft>
                <a:spcPts val="0"/>
              </a:spcAft>
              <a:buClr>
                <a:srgbClr val="888888"/>
              </a:buClr>
              <a:buSzPct val="100000"/>
              <a:buNone/>
            </a:pPr>
            <a:endParaRPr lang="en-US" sz="1600" dirty="0">
              <a:latin typeface="Times New Roman" panose="02020603050405020304" pitchFamily="18" charset="0"/>
              <a:cs typeface="Times New Roman" panose="02020603050405020304" pitchFamily="18" charset="0"/>
            </a:endParaRPr>
          </a:p>
          <a:p>
            <a:pPr marL="0" lvl="0" indent="0" algn="ctr" rtl="0">
              <a:spcBef>
                <a:spcPts val="592"/>
              </a:spcBef>
              <a:spcAft>
                <a:spcPts val="0"/>
              </a:spcAft>
              <a:buClr>
                <a:srgbClr val="888888"/>
              </a:buClr>
              <a:buSzPct val="100000"/>
              <a:buNone/>
            </a:pPr>
            <a:r>
              <a:rPr lang="en-US" sz="1600" dirty="0">
                <a:latin typeface="Times New Roman" panose="02020603050405020304" pitchFamily="18" charset="0"/>
                <a:cs typeface="Times New Roman" panose="02020603050405020304" pitchFamily="18" charset="0"/>
              </a:rPr>
              <a:t>Student 2 Reg. No: RA2211003010706</a:t>
            </a:r>
          </a:p>
          <a:p>
            <a:pPr marL="0" lvl="0" indent="0">
              <a:spcBef>
                <a:spcPts val="592"/>
              </a:spcBef>
              <a:buSzPct val="100000"/>
            </a:pPr>
            <a:r>
              <a:rPr lang="en-US" sz="1600" dirty="0">
                <a:latin typeface="Times New Roman" panose="02020603050405020304" pitchFamily="18" charset="0"/>
                <a:cs typeface="Times New Roman" panose="02020603050405020304" pitchFamily="18" charset="0"/>
              </a:rPr>
              <a:t>Student 2 Name: Karan Bhambhani</a:t>
            </a:r>
            <a:endParaRPr sz="1600" dirty="0">
              <a:latin typeface="Times New Roman" panose="02020603050405020304" pitchFamily="18" charset="0"/>
              <a:cs typeface="Times New Roman" panose="02020603050405020304" pitchFamily="18" charset="0"/>
            </a:endParaRPr>
          </a:p>
        </p:txBody>
      </p:sp>
      <p:pic>
        <p:nvPicPr>
          <p:cNvPr id="90" name="Google Shape;90;p1"/>
          <p:cNvPicPr preferRelativeResize="0"/>
          <p:nvPr/>
        </p:nvPicPr>
        <p:blipFill rotWithShape="1">
          <a:blip r:embed="rId3">
            <a:alphaModFix/>
          </a:blip>
          <a:srcRect/>
          <a:stretch/>
        </p:blipFill>
        <p:spPr>
          <a:xfrm>
            <a:off x="228600" y="553353"/>
            <a:ext cx="1735931" cy="755015"/>
          </a:xfrm>
          <a:prstGeom prst="rect">
            <a:avLst/>
          </a:prstGeom>
          <a:noFill/>
          <a:ln>
            <a:noFill/>
          </a:ln>
        </p:spPr>
      </p:pic>
      <p:sp>
        <p:nvSpPr>
          <p:cNvPr id="91" name="Google Shape;91;p1"/>
          <p:cNvSpPr/>
          <p:nvPr/>
        </p:nvSpPr>
        <p:spPr>
          <a:xfrm>
            <a:off x="1964531" y="569724"/>
            <a:ext cx="6172200" cy="14772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SRM INSTITUTE OF SCIENCE AND TECHNOLOGY </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SCHOOL OF COMPUTING</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DEPARTMENT OF COMPUTING TECHNOLOGIES</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dirty="0">
                <a:solidFill>
                  <a:schemeClr val="dk1"/>
                </a:solidFill>
                <a:latin typeface="Times New Roman" panose="02020603050405020304" pitchFamily="18" charset="0"/>
                <a:ea typeface="Calibri"/>
                <a:cs typeface="Times New Roman" panose="02020603050405020304" pitchFamily="18" charset="0"/>
                <a:sym typeface="Calibri"/>
              </a:rPr>
              <a:t>21CSP401L – MAJOR PROJECT</a:t>
            </a: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 </a:t>
            </a:r>
            <a:r>
              <a:rPr lang="en-US" sz="1800" b="1" dirty="0">
                <a:solidFill>
                  <a:schemeClr val="dk1"/>
                </a:solidFill>
                <a:latin typeface="Times New Roman" panose="02020603050405020304" pitchFamily="18" charset="0"/>
                <a:ea typeface="Calibri"/>
                <a:cs typeface="Times New Roman" panose="02020603050405020304" pitchFamily="18" charset="0"/>
                <a:sym typeface="Calibri"/>
              </a:rPr>
              <a:t>21</a:t>
            </a: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CSP402L - MAJOR PROJECT AND 21CSP403L - INTERNSHI</a:t>
            </a:r>
            <a:r>
              <a:rPr lang="en-US" sz="1800" b="1" dirty="0">
                <a:solidFill>
                  <a:schemeClr val="dk1"/>
                </a:solidFill>
                <a:latin typeface="Times New Roman" panose="02020603050405020304" pitchFamily="18" charset="0"/>
                <a:ea typeface="Calibri"/>
                <a:cs typeface="Times New Roman" panose="02020603050405020304" pitchFamily="18" charset="0"/>
                <a:sym typeface="Calibri"/>
              </a:rPr>
              <a:t>P</a:t>
            </a:r>
            <a:endPar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7" name="Google Shape;89;p1"/>
          <p:cNvSpPr txBox="1">
            <a:spLocks/>
          </p:cNvSpPr>
          <p:nvPr/>
        </p:nvSpPr>
        <p:spPr>
          <a:xfrm>
            <a:off x="228600" y="5243512"/>
            <a:ext cx="3471862" cy="1190625"/>
          </a:xfrm>
          <a:prstGeom prst="rect">
            <a:avLst/>
          </a:prstGeom>
          <a:noFill/>
          <a:ln>
            <a:noFill/>
          </a:ln>
        </p:spPr>
        <p:txBody>
          <a:bodyPr spcFirstLastPara="1" wrap="square" lIns="91425" tIns="45700" rIns="91425" bIns="45700" anchor="t" anchorCtr="0">
            <a:normAutofit fontScale="40000" lnSpcReduction="20000"/>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nSpc>
                <a:spcPct val="170000"/>
              </a:lnSpc>
              <a:spcBef>
                <a:spcPts val="592"/>
              </a:spcBef>
              <a:buSzPct val="100000"/>
            </a:pPr>
            <a:r>
              <a:rPr lang="en-US" dirty="0">
                <a:latin typeface="Times New Roman" panose="02020603050405020304" pitchFamily="18" charset="0"/>
                <a:cs typeface="Times New Roman" panose="02020603050405020304" pitchFamily="18" charset="0"/>
              </a:rPr>
              <a:t>Guide name: Nithiyanandam Sir </a:t>
            </a:r>
          </a:p>
          <a:p>
            <a:pPr marL="0" indent="0">
              <a:lnSpc>
                <a:spcPct val="170000"/>
              </a:lnSpc>
              <a:spcBef>
                <a:spcPts val="592"/>
              </a:spcBef>
              <a:buSzPct val="100000"/>
            </a:pPr>
            <a:r>
              <a:rPr lang="en-US" dirty="0">
                <a:latin typeface="Times New Roman" panose="02020603050405020304" pitchFamily="18" charset="0"/>
                <a:cs typeface="Times New Roman" panose="02020603050405020304" pitchFamily="18" charset="0"/>
              </a:rPr>
              <a:t>Designation: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Department: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8683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Problem Statement </a:t>
            </a:r>
            <a:endParaRPr b="1" dirty="0">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82722" y="535768"/>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3/7/2026</a:t>
            </a:fld>
            <a:endParaRPr dirty="0"/>
          </a:p>
        </p:txBody>
      </p:sp>
      <p:sp>
        <p:nvSpPr>
          <p:cNvPr id="100" name="Google Shape;100;p2"/>
          <p:cNvSpPr txBox="1">
            <a:spLocks noGrp="1"/>
          </p:cNvSpPr>
          <p:nvPr>
            <p:ph type="ftr" idx="11"/>
          </p:nvPr>
        </p:nvSpPr>
        <p:spPr>
          <a:xfrm>
            <a:off x="3843528" y="7795006"/>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3" name="Text Placeholder 2">
            <a:extLst>
              <a:ext uri="{FF2B5EF4-FFF2-40B4-BE49-F238E27FC236}">
                <a16:creationId xmlns:a16="http://schemas.microsoft.com/office/drawing/2014/main" id="{3BC2CA6D-B487-81DA-B8CA-8A2AE99CCECD}"/>
              </a:ext>
            </a:extLst>
          </p:cNvPr>
          <p:cNvSpPr>
            <a:spLocks noGrp="1"/>
          </p:cNvSpPr>
          <p:nvPr>
            <p:ph type="body" idx="1"/>
          </p:nvPr>
        </p:nvSpPr>
        <p:spPr>
          <a:xfrm>
            <a:off x="457200" y="1612392"/>
            <a:ext cx="8229600" cy="4525963"/>
          </a:xfrm>
        </p:spPr>
        <p:txBody>
          <a:bodyPr>
            <a:normAutofit/>
          </a:bodyPr>
          <a:lstStyle/>
          <a:p>
            <a:pPr marL="114300" indent="0" algn="just">
              <a:buNone/>
            </a:pPr>
            <a:r>
              <a:rPr lang="en-US" sz="1600" dirty="0">
                <a:latin typeface="Times New Roman" panose="02020603050405020304" pitchFamily="18" charset="0"/>
                <a:cs typeface="Times New Roman" panose="02020603050405020304" pitchFamily="18" charset="0"/>
              </a:rPr>
              <a:t>Modern enterprises and institutions are experiencing a rapid increase in energy consumption due to digital transformation. This results in both financial cost escalation and environmental impact. Traditional energy monitoring systems mainly provide historical usage data but lack advanced capabilities such as predictive forecasting, anomaly detection, and sustainability analytics. Major limitations of current systems include fragmented energy reporting across devices and departments, absence of anomaly detection with source attribution, lack of predictive demand forecasting, inconsistent cost reporting, and no visibility into carbon emissions'-VISION addresses these challenges through an AI-driven analytics platform that provides: Predictive energy demand forecasting Residual Z-score anomaly detection Carbon emission trackingCentralised cost reporting using INR tariff utility Role-based access control for secure enterprise usage The system provides a unified dashboard that enables organizations to monitor, analyze, and optimize energy consumption while supporting sustainability goals.</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3200" b="1" dirty="0"/>
              <a:t>      </a:t>
            </a:r>
            <a:r>
              <a:rPr lang="en-US" sz="3200" b="1" dirty="0">
                <a:latin typeface="Times New Roman" panose="02020603050405020304" pitchFamily="18" charset="0"/>
                <a:cs typeface="Times New Roman" panose="02020603050405020304" pitchFamily="18" charset="0"/>
              </a:rPr>
              <a:t>Abstract</a:t>
            </a:r>
            <a:endParaRPr sz="3200" b="1" dirty="0">
              <a:latin typeface="Times New Roman" panose="02020603050405020304" pitchFamily="18" charset="0"/>
              <a:cs typeface="Times New Roman" panose="02020603050405020304" pitchFamily="18" charset="0"/>
            </a:endParaRPr>
          </a:p>
        </p:txBody>
      </p:sp>
      <p:pic>
        <p:nvPicPr>
          <p:cNvPr id="98" name="Google Shape;98;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47A043FB-B7D1-47FA-9783-B1F715E9021F}" type="datetime1">
              <a:rPr lang="en-US" smtClean="0"/>
              <a:t>3/7/2026</a:t>
            </a:fld>
            <a:endParaRPr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dirty="0"/>
          </a:p>
        </p:txBody>
      </p:sp>
      <p:sp>
        <p:nvSpPr>
          <p:cNvPr id="3" name="Text Placeholder 2">
            <a:extLst>
              <a:ext uri="{FF2B5EF4-FFF2-40B4-BE49-F238E27FC236}">
                <a16:creationId xmlns:a16="http://schemas.microsoft.com/office/drawing/2014/main" id="{0096FEFF-E6BD-E020-75D7-9D8EC34D0CBF}"/>
              </a:ext>
            </a:extLst>
          </p:cNvPr>
          <p:cNvSpPr>
            <a:spLocks noGrp="1"/>
          </p:cNvSpPr>
          <p:nvPr>
            <p:ph type="body" idx="1"/>
          </p:nvPr>
        </p:nvSpPr>
        <p:spPr/>
        <p:txBody>
          <a:bodyPr>
            <a:normAutofit/>
          </a:bodyPr>
          <a:lstStyle/>
          <a:p>
            <a:pPr marL="114300" indent="0" algn="just">
              <a:buNone/>
            </a:pPr>
            <a:r>
              <a:rPr lang="en-US" sz="1600" dirty="0">
                <a:latin typeface="Times New Roman" panose="02020603050405020304" pitchFamily="18" charset="0"/>
                <a:cs typeface="Times New Roman" panose="02020603050405020304" pitchFamily="18" charset="0"/>
              </a:rPr>
              <a:t>Energy optimisation and sustainability are critical concerns for modern enterprises. EN-VISION is an AI-Driven Smart Energy Optimisation and Carbon Analytics Platform that integrates predictive analytics, residual Z-score anomaly detection with source attribution, and sustainability assessment into a unified system. The platform utilises machine learning models to forecast energy demand, identify overconsumption patterns at device/zone/department level, and generate optimisation recommendations. A centralized INR tariff utility (Rs 8.2/kWh) standardises cost reporting. Additionally, it converts energy usage into carbon emission equivalents to support sustainability reporting. Through interactive dashboards with JWT-based role-based access control (Admin, User, Viewer), the system provides actionable insights for energy efficiency and environmental responsibility, aligning with SDG-7 and SDG-13.</a:t>
            </a:r>
          </a:p>
          <a:p>
            <a:pPr marL="114300" indent="0" algn="just">
              <a:buNone/>
            </a:pPr>
            <a:endParaRPr lang="en-IN" sz="1600" dirty="0"/>
          </a:p>
        </p:txBody>
      </p:sp>
    </p:spTree>
    <p:extLst>
      <p:ext uri="{BB962C8B-B14F-4D97-AF65-F5344CB8AC3E}">
        <p14:creationId xmlns:p14="http://schemas.microsoft.com/office/powerpoint/2010/main" val="1066086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7E038-FB56-AEB2-7EB2-33A3989B587D}"/>
              </a:ext>
            </a:extLst>
          </p:cNvPr>
          <p:cNvSpPr>
            <a:spLocks noGrp="1"/>
          </p:cNvSpPr>
          <p:nvPr>
            <p:ph type="title"/>
          </p:nvPr>
        </p:nvSpPr>
        <p:spPr>
          <a:xfrm>
            <a:off x="627888" y="136525"/>
            <a:ext cx="8229600" cy="1143000"/>
          </a:xfrm>
        </p:spPr>
        <p:txBody>
          <a:bodyPr>
            <a:normAutofit/>
          </a:bodyPr>
          <a:lstStyle/>
          <a:p>
            <a:r>
              <a:rPr lang="en-IN" dirty="0"/>
              <a:t>           </a:t>
            </a:r>
            <a:r>
              <a:rPr lang="en-IN" sz="2400" b="1" dirty="0">
                <a:latin typeface="Times New Roman" panose="02020603050405020304" pitchFamily="18" charset="0"/>
                <a:cs typeface="Times New Roman" panose="02020603050405020304" pitchFamily="18" charset="0"/>
              </a:rPr>
              <a:t>HIGH-LEVEL SYSTEM ARCHITECTURE</a:t>
            </a:r>
          </a:p>
        </p:txBody>
      </p:sp>
      <p:sp>
        <p:nvSpPr>
          <p:cNvPr id="3" name="Text Placeholder 2">
            <a:extLst>
              <a:ext uri="{FF2B5EF4-FFF2-40B4-BE49-F238E27FC236}">
                <a16:creationId xmlns:a16="http://schemas.microsoft.com/office/drawing/2014/main" id="{7D4DD800-4B2D-56DB-5330-AC849435B27E}"/>
              </a:ext>
            </a:extLst>
          </p:cNvPr>
          <p:cNvSpPr>
            <a:spLocks noGrp="1"/>
          </p:cNvSpPr>
          <p:nvPr>
            <p:ph type="body" idx="1"/>
          </p:nvPr>
        </p:nvSpPr>
        <p:spPr>
          <a:xfrm>
            <a:off x="457200" y="1335834"/>
            <a:ext cx="8229600" cy="4756150"/>
          </a:xfrm>
        </p:spPr>
        <p:txBody>
          <a:bodyPr/>
          <a:lstStyle/>
          <a:p>
            <a:pPr algn="just"/>
            <a:r>
              <a:rPr lang="en-IN" sz="1600" kern="100" dirty="0">
                <a:latin typeface="Times New Roman" panose="02020603050405020304" pitchFamily="18" charset="0"/>
                <a:ea typeface="Calibri" panose="020F0502020204030204" pitchFamily="34" charset="0"/>
              </a:rPr>
              <a:t>It</a:t>
            </a:r>
            <a:r>
              <a:rPr lang="en-IN" sz="1600" kern="100" dirty="0">
                <a:effectLst/>
                <a:latin typeface="Times New Roman" panose="02020603050405020304" pitchFamily="18" charset="0"/>
                <a:ea typeface="Calibri" panose="020F0502020204030204" pitchFamily="34" charset="0"/>
              </a:rPr>
              <a:t> adopts a monolithic architecture with service-oriented internal decomposition. A single FastAPI backend and Next.js frontend are deployed together with PostgreSQL as the shared database. Internally, code is split by domain — auth, ingestion, and dashboard analytics — giving clean boundaries. The five-layer stack flows from User Browser → Next.js Frontend → FastAPI API Gateway → Python Analytics/ML Services → PostgreSQL + SQLAlchemy ORM.</a:t>
            </a:r>
            <a:endParaRPr lang="en-IN" sz="1600" kern="100" dirty="0">
              <a:effectLst/>
              <a:latin typeface="Calibri" panose="020F0502020204030204" pitchFamily="34" charset="0"/>
              <a:ea typeface="Calibri" panose="020F0502020204030204" pitchFamily="34" charset="0"/>
            </a:endParaRPr>
          </a:p>
          <a:p>
            <a:pPr marL="114300" indent="0">
              <a:buNone/>
            </a:pPr>
            <a:endParaRPr lang="en-IN" dirty="0"/>
          </a:p>
          <a:p>
            <a:pPr marL="114300" indent="0">
              <a:buNone/>
            </a:pPr>
            <a:endParaRPr lang="en-IN" dirty="0"/>
          </a:p>
        </p:txBody>
      </p:sp>
      <p:sp>
        <p:nvSpPr>
          <p:cNvPr id="4" name="Date Placeholder 3">
            <a:extLst>
              <a:ext uri="{FF2B5EF4-FFF2-40B4-BE49-F238E27FC236}">
                <a16:creationId xmlns:a16="http://schemas.microsoft.com/office/drawing/2014/main" id="{B7C72B7B-732F-5EF7-48CD-F7F6A6D05231}"/>
              </a:ext>
            </a:extLst>
          </p:cNvPr>
          <p:cNvSpPr>
            <a:spLocks noGrp="1"/>
          </p:cNvSpPr>
          <p:nvPr>
            <p:ph type="dt" idx="10"/>
          </p:nvPr>
        </p:nvSpPr>
        <p:spPr/>
        <p:txBody>
          <a:bodyPr/>
          <a:lstStyle/>
          <a:p>
            <a:fld id="{11DF9AFC-F9E1-4479-91CA-51DE23BE06C0}" type="datetime1">
              <a:rPr lang="en-US" smtClean="0"/>
              <a:t>3/7/2026</a:t>
            </a:fld>
            <a:endParaRPr lang="en-US"/>
          </a:p>
        </p:txBody>
      </p:sp>
      <p:sp>
        <p:nvSpPr>
          <p:cNvPr id="6" name="Slide Number Placeholder 5">
            <a:extLst>
              <a:ext uri="{FF2B5EF4-FFF2-40B4-BE49-F238E27FC236}">
                <a16:creationId xmlns:a16="http://schemas.microsoft.com/office/drawing/2014/main" id="{E2B5A08C-909B-89D5-7CBE-DFC9BB132F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pic>
        <p:nvPicPr>
          <p:cNvPr id="7" name="Google Shape;98;p2">
            <a:extLst>
              <a:ext uri="{FF2B5EF4-FFF2-40B4-BE49-F238E27FC236}">
                <a16:creationId xmlns:a16="http://schemas.microsoft.com/office/drawing/2014/main" id="{9F18AB88-A028-D8C7-B6F8-52E6F45F9BDB}"/>
              </a:ext>
            </a:extLst>
          </p:cNvPr>
          <p:cNvPicPr preferRelativeResize="0"/>
          <p:nvPr/>
        </p:nvPicPr>
        <p:blipFill rotWithShape="1">
          <a:blip r:embed="rId2">
            <a:alphaModFix/>
          </a:blip>
          <a:srcRect/>
          <a:stretch/>
        </p:blipFill>
        <p:spPr>
          <a:xfrm>
            <a:off x="170180" y="376397"/>
            <a:ext cx="2133600" cy="757459"/>
          </a:xfrm>
          <a:prstGeom prst="rect">
            <a:avLst/>
          </a:prstGeom>
          <a:noFill/>
          <a:ln>
            <a:noFill/>
          </a:ln>
        </p:spPr>
      </p:pic>
      <p:sp>
        <p:nvSpPr>
          <p:cNvPr id="18" name="TextBox 17">
            <a:extLst>
              <a:ext uri="{FF2B5EF4-FFF2-40B4-BE49-F238E27FC236}">
                <a16:creationId xmlns:a16="http://schemas.microsoft.com/office/drawing/2014/main" id="{BF3A51BE-4425-9158-8A96-91A97E59937E}"/>
              </a:ext>
            </a:extLst>
          </p:cNvPr>
          <p:cNvSpPr txBox="1"/>
          <p:nvPr/>
        </p:nvSpPr>
        <p:spPr>
          <a:xfrm>
            <a:off x="3340514" y="6253296"/>
            <a:ext cx="2705099" cy="307777"/>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High-Level System Architecture </a:t>
            </a:r>
          </a:p>
        </p:txBody>
      </p:sp>
      <p:pic>
        <p:nvPicPr>
          <p:cNvPr id="8" name="Picture 7">
            <a:extLst>
              <a:ext uri="{FF2B5EF4-FFF2-40B4-BE49-F238E27FC236}">
                <a16:creationId xmlns:a16="http://schemas.microsoft.com/office/drawing/2014/main" id="{AA9A2689-BBAB-4412-9C92-74FF77E5A411}"/>
              </a:ext>
            </a:extLst>
          </p:cNvPr>
          <p:cNvPicPr>
            <a:picLocks noChangeAspect="1"/>
          </p:cNvPicPr>
          <p:nvPr/>
        </p:nvPicPr>
        <p:blipFill>
          <a:blip r:embed="rId3"/>
          <a:stretch>
            <a:fillRect/>
          </a:stretch>
        </p:blipFill>
        <p:spPr>
          <a:xfrm>
            <a:off x="1128248" y="2969444"/>
            <a:ext cx="7129632" cy="3184928"/>
          </a:xfrm>
          <a:prstGeom prst="rect">
            <a:avLst/>
          </a:prstGeom>
        </p:spPr>
      </p:pic>
    </p:spTree>
    <p:extLst>
      <p:ext uri="{BB962C8B-B14F-4D97-AF65-F5344CB8AC3E}">
        <p14:creationId xmlns:p14="http://schemas.microsoft.com/office/powerpoint/2010/main" val="1426057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335FBDF-AC60-6CF2-1952-BF9B30E40937}"/>
              </a:ext>
            </a:extLst>
          </p:cNvPr>
          <p:cNvSpPr>
            <a:spLocks noGrp="1"/>
          </p:cNvSpPr>
          <p:nvPr>
            <p:ph type="dt" idx="10"/>
          </p:nvPr>
        </p:nvSpPr>
        <p:spPr/>
        <p:txBody>
          <a:bodyPr/>
          <a:lstStyle/>
          <a:p>
            <a:fld id="{11DF9AFC-F9E1-4479-91CA-51DE23BE06C0}" type="datetime1">
              <a:rPr lang="en-US" smtClean="0"/>
              <a:t>3/7/2026</a:t>
            </a:fld>
            <a:endParaRPr lang="en-US"/>
          </a:p>
        </p:txBody>
      </p:sp>
      <p:sp>
        <p:nvSpPr>
          <p:cNvPr id="6" name="Slide Number Placeholder 5">
            <a:extLst>
              <a:ext uri="{FF2B5EF4-FFF2-40B4-BE49-F238E27FC236}">
                <a16:creationId xmlns:a16="http://schemas.microsoft.com/office/drawing/2014/main" id="{CDD66490-EF0A-3778-48E2-89BAF68396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pic>
        <p:nvPicPr>
          <p:cNvPr id="9" name="Picture 8">
            <a:extLst>
              <a:ext uri="{FF2B5EF4-FFF2-40B4-BE49-F238E27FC236}">
                <a16:creationId xmlns:a16="http://schemas.microsoft.com/office/drawing/2014/main" id="{09674082-EBEE-FA2A-F640-A3FB637E139B}"/>
              </a:ext>
            </a:extLst>
          </p:cNvPr>
          <p:cNvPicPr>
            <a:picLocks noChangeAspect="1"/>
          </p:cNvPicPr>
          <p:nvPr/>
        </p:nvPicPr>
        <p:blipFill>
          <a:blip r:embed="rId2"/>
          <a:stretch>
            <a:fillRect/>
          </a:stretch>
        </p:blipFill>
        <p:spPr>
          <a:xfrm>
            <a:off x="1089475" y="4408115"/>
            <a:ext cx="6429376" cy="2110343"/>
          </a:xfrm>
          <a:prstGeom prst="rect">
            <a:avLst/>
          </a:prstGeom>
        </p:spPr>
      </p:pic>
      <p:sp>
        <p:nvSpPr>
          <p:cNvPr id="8" name="TextBox 7">
            <a:extLst>
              <a:ext uri="{FF2B5EF4-FFF2-40B4-BE49-F238E27FC236}">
                <a16:creationId xmlns:a16="http://schemas.microsoft.com/office/drawing/2014/main" id="{C6575B0A-4E8A-8294-D4EC-46AC78B46B23}"/>
              </a:ext>
            </a:extLst>
          </p:cNvPr>
          <p:cNvSpPr txBox="1"/>
          <p:nvPr/>
        </p:nvSpPr>
        <p:spPr>
          <a:xfrm>
            <a:off x="1266266" y="5748767"/>
            <a:ext cx="5055577" cy="307777"/>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Data Flow Architecture —Pipeline</a:t>
            </a:r>
          </a:p>
        </p:txBody>
      </p:sp>
      <p:pic>
        <p:nvPicPr>
          <p:cNvPr id="17" name="Google Shape;98;p2">
            <a:extLst>
              <a:ext uri="{FF2B5EF4-FFF2-40B4-BE49-F238E27FC236}">
                <a16:creationId xmlns:a16="http://schemas.microsoft.com/office/drawing/2014/main" id="{D22D781E-AFAE-E324-3A2F-377BA8E3AE02}"/>
              </a:ext>
            </a:extLst>
          </p:cNvPr>
          <p:cNvPicPr preferRelativeResize="0"/>
          <p:nvPr/>
        </p:nvPicPr>
        <p:blipFill rotWithShape="1">
          <a:blip r:embed="rId3">
            <a:alphaModFix/>
          </a:blip>
          <a:srcRect/>
          <a:stretch/>
        </p:blipFill>
        <p:spPr>
          <a:xfrm>
            <a:off x="170180" y="376397"/>
            <a:ext cx="2133600" cy="757459"/>
          </a:xfrm>
          <a:prstGeom prst="rect">
            <a:avLst/>
          </a:prstGeom>
          <a:noFill/>
          <a:ln>
            <a:noFill/>
          </a:ln>
        </p:spPr>
      </p:pic>
      <p:sp>
        <p:nvSpPr>
          <p:cNvPr id="18" name="Title 1">
            <a:extLst>
              <a:ext uri="{FF2B5EF4-FFF2-40B4-BE49-F238E27FC236}">
                <a16:creationId xmlns:a16="http://schemas.microsoft.com/office/drawing/2014/main" id="{8D2F2FD1-8F10-F933-E2EA-802D3084BE19}"/>
              </a:ext>
            </a:extLst>
          </p:cNvPr>
          <p:cNvSpPr>
            <a:spLocks noGrp="1"/>
          </p:cNvSpPr>
          <p:nvPr>
            <p:ph type="title"/>
          </p:nvPr>
        </p:nvSpPr>
        <p:spPr>
          <a:xfrm>
            <a:off x="627888" y="136525"/>
            <a:ext cx="8229600" cy="1143000"/>
          </a:xfrm>
        </p:spPr>
        <p:txBody>
          <a:bodyPr>
            <a:normAutofit/>
          </a:bodyPr>
          <a:lstStyle/>
          <a:p>
            <a:r>
              <a:rPr lang="en-IN" dirty="0"/>
              <a:t>     </a:t>
            </a:r>
            <a:r>
              <a:rPr lang="en-IN" sz="2400" b="1" dirty="0">
                <a:latin typeface="Times New Roman" panose="02020603050405020304" pitchFamily="18" charset="0"/>
                <a:cs typeface="Times New Roman" panose="02020603050405020304" pitchFamily="18" charset="0"/>
              </a:rPr>
              <a:t>DATA FLOW ARCHITECTURE</a:t>
            </a:r>
          </a:p>
        </p:txBody>
      </p:sp>
      <p:sp>
        <p:nvSpPr>
          <p:cNvPr id="19" name="TextBox 18">
            <a:extLst>
              <a:ext uri="{FF2B5EF4-FFF2-40B4-BE49-F238E27FC236}">
                <a16:creationId xmlns:a16="http://schemas.microsoft.com/office/drawing/2014/main" id="{26A599D2-C274-F0D2-879A-4BD92217712F}"/>
              </a:ext>
            </a:extLst>
          </p:cNvPr>
          <p:cNvSpPr txBox="1"/>
          <p:nvPr/>
        </p:nvSpPr>
        <p:spPr>
          <a:xfrm>
            <a:off x="848412" y="1319872"/>
            <a:ext cx="7305773" cy="289310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AI-Driven Smart Energy Optimization and Carbon Analytics Platform processes energy data through a structured pipeline that enables ingestion, processing, analytics, and visualization.</a:t>
            </a:r>
          </a:p>
          <a:p>
            <a:r>
              <a:rPr lang="en-US" dirty="0">
                <a:latin typeface="Times New Roman" panose="02020603050405020304" pitchFamily="18" charset="0"/>
                <a:cs typeface="Times New Roman" panose="02020603050405020304" pitchFamily="18" charset="0"/>
              </a:rPr>
              <a:t>Energy consumption data is collected from CSV uploads or simulated IoT data sources through REST APIs. The ingestion layer validates and normalizes incoming records before storing them as raw immutable entries in the energy events table.</a:t>
            </a:r>
          </a:p>
          <a:p>
            <a:r>
              <a:rPr lang="en-US" dirty="0">
                <a:latin typeface="Times New Roman" panose="02020603050405020304" pitchFamily="18" charset="0"/>
                <a:cs typeface="Times New Roman" panose="02020603050405020304" pitchFamily="18" charset="0"/>
              </a:rPr>
              <a:t>The stored data then passes through multiple processing stages. Raw event data is transformed into structured readings and aggregated into hourly and daily summaries through the energy_readings, energy_agg_hourly, and energy_agg_daily tables. These aggregated values are used to compute baseline metrics, including rolling baseline energy consumption and standard deviation for each device or department.</a:t>
            </a:r>
          </a:p>
          <a:p>
            <a:r>
              <a:rPr lang="en-US" dirty="0">
                <a:latin typeface="Times New Roman" panose="02020603050405020304" pitchFamily="18" charset="0"/>
                <a:cs typeface="Times New Roman" panose="02020603050405020304" pitchFamily="18" charset="0"/>
              </a:rPr>
              <a:t>The analytics layer processes these metrics to generate insights such as anomaly detection, energy forecasting, cost estimation, and carbon emission analytics. Anomalies are detected using residual Z-score calculations based on deviations from baseline consumption.</a:t>
            </a:r>
          </a:p>
        </p:txBody>
      </p:sp>
    </p:spTree>
    <p:extLst>
      <p:ext uri="{BB962C8B-B14F-4D97-AF65-F5344CB8AC3E}">
        <p14:creationId xmlns:p14="http://schemas.microsoft.com/office/powerpoint/2010/main" val="629279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D5C1D-64EE-8219-7797-8D878ACA726D}"/>
              </a:ext>
            </a:extLst>
          </p:cNvPr>
          <p:cNvSpPr>
            <a:spLocks noGrp="1"/>
          </p:cNvSpPr>
          <p:nvPr>
            <p:ph type="title"/>
          </p:nvPr>
        </p:nvSpPr>
        <p:spPr/>
        <p:txBody>
          <a:bodyPr/>
          <a:lstStyle/>
          <a:p>
            <a:r>
              <a:rPr lang="en-IN" dirty="0"/>
              <a:t>   </a:t>
            </a:r>
            <a:r>
              <a:rPr lang="en-IN" sz="2400" b="1" dirty="0">
                <a:latin typeface="Times New Roman" panose="02020603050405020304" pitchFamily="18" charset="0"/>
                <a:cs typeface="Times New Roman" panose="02020603050405020304" pitchFamily="18" charset="0"/>
              </a:rPr>
              <a:t>DATABASE DESIGN</a:t>
            </a:r>
            <a:endParaRPr lang="en-IN" sz="4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141E918-73D5-BB65-717D-7837F4F2BFB7}"/>
              </a:ext>
            </a:extLst>
          </p:cNvPr>
          <p:cNvSpPr>
            <a:spLocks noGrp="1"/>
          </p:cNvSpPr>
          <p:nvPr>
            <p:ph type="body" idx="1"/>
          </p:nvPr>
        </p:nvSpPr>
        <p:spPr/>
        <p:txBody>
          <a:bodyPr/>
          <a:lstStyle/>
          <a:p>
            <a:r>
              <a:rPr lang="en-IN" sz="1600" b="1" dirty="0">
                <a:latin typeface="Times New Roman" panose="02020603050405020304" pitchFamily="18" charset="0"/>
                <a:cs typeface="Times New Roman" panose="02020603050405020304" pitchFamily="18" charset="0"/>
              </a:rPr>
              <a:t>The 17-table database architecture separates</a:t>
            </a:r>
            <a:r>
              <a:rPr lang="en-IN" sz="1600" dirty="0">
                <a:latin typeface="Times New Roman" panose="02020603050405020304" pitchFamily="18" charset="0"/>
                <a:cs typeface="Times New Roman" panose="02020603050405020304" pitchFamily="18" charset="0"/>
              </a:rPr>
              <a:t>:</a:t>
            </a:r>
          </a:p>
          <a:p>
            <a:pPr marL="571500" lvl="1" indent="0">
              <a:buNone/>
            </a:pPr>
            <a:endParaRPr lang="en-IN" sz="14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Raw Energy Data — energy_events, energy_readings (immutable IoT/CSV records)</a:t>
            </a:r>
          </a:p>
          <a:p>
            <a:pPr lvl="1">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Aggregated Data — energy_agg_hourly, energy_agg_daily (total/avg/peak kWh)</a:t>
            </a:r>
          </a:p>
          <a:p>
            <a:pPr lvl="1">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Baseline Metrics — baseline_metrics (rolling baseline_kwh + stddev per device/dept)</a:t>
            </a:r>
          </a:p>
          <a:p>
            <a:pPr marL="114300" indent="0">
              <a:buNone/>
            </a:pPr>
            <a:endParaRPr lang="en-IN" dirty="0"/>
          </a:p>
        </p:txBody>
      </p:sp>
      <p:sp>
        <p:nvSpPr>
          <p:cNvPr id="4" name="Date Placeholder 3">
            <a:extLst>
              <a:ext uri="{FF2B5EF4-FFF2-40B4-BE49-F238E27FC236}">
                <a16:creationId xmlns:a16="http://schemas.microsoft.com/office/drawing/2014/main" id="{F063F289-9BE7-367E-4A71-ABB03551A64E}"/>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3C706D00-93B5-6487-07CD-B986D3CA061A}"/>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9F0A0356-198B-3612-89DF-414F005BD5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pic>
        <p:nvPicPr>
          <p:cNvPr id="7" name="Google Shape;98;p2">
            <a:extLst>
              <a:ext uri="{FF2B5EF4-FFF2-40B4-BE49-F238E27FC236}">
                <a16:creationId xmlns:a16="http://schemas.microsoft.com/office/drawing/2014/main" id="{7AB27575-8FD4-EE70-79D5-F7CC68BE4B73}"/>
              </a:ext>
            </a:extLst>
          </p:cNvPr>
          <p:cNvPicPr preferRelativeResize="0"/>
          <p:nvPr/>
        </p:nvPicPr>
        <p:blipFill rotWithShape="1">
          <a:blip r:embed="rId2">
            <a:alphaModFix/>
          </a:blip>
          <a:srcRect/>
          <a:stretch/>
        </p:blipFill>
        <p:spPr>
          <a:xfrm>
            <a:off x="126219" y="396543"/>
            <a:ext cx="2133600" cy="757459"/>
          </a:xfrm>
          <a:prstGeom prst="rect">
            <a:avLst/>
          </a:prstGeom>
          <a:noFill/>
          <a:ln>
            <a:noFill/>
          </a:ln>
        </p:spPr>
      </p:pic>
      <p:pic>
        <p:nvPicPr>
          <p:cNvPr id="9" name="Picture 8">
            <a:extLst>
              <a:ext uri="{FF2B5EF4-FFF2-40B4-BE49-F238E27FC236}">
                <a16:creationId xmlns:a16="http://schemas.microsoft.com/office/drawing/2014/main" id="{9DDF965E-7AB1-03C5-B794-C3AAFA38245B}"/>
              </a:ext>
            </a:extLst>
          </p:cNvPr>
          <p:cNvPicPr>
            <a:picLocks noChangeAspect="1"/>
          </p:cNvPicPr>
          <p:nvPr/>
        </p:nvPicPr>
        <p:blipFill>
          <a:blip r:embed="rId3"/>
          <a:stretch>
            <a:fillRect/>
          </a:stretch>
        </p:blipFill>
        <p:spPr>
          <a:xfrm>
            <a:off x="574060" y="3798647"/>
            <a:ext cx="7995871" cy="900704"/>
          </a:xfrm>
          <a:prstGeom prst="rect">
            <a:avLst/>
          </a:prstGeom>
        </p:spPr>
      </p:pic>
      <p:sp>
        <p:nvSpPr>
          <p:cNvPr id="10" name="TextBox 9">
            <a:extLst>
              <a:ext uri="{FF2B5EF4-FFF2-40B4-BE49-F238E27FC236}">
                <a16:creationId xmlns:a16="http://schemas.microsoft.com/office/drawing/2014/main" id="{C3610D56-16D0-E9EB-6EE0-6C4115380545}"/>
              </a:ext>
            </a:extLst>
          </p:cNvPr>
          <p:cNvSpPr txBox="1"/>
          <p:nvPr/>
        </p:nvSpPr>
        <p:spPr>
          <a:xfrm>
            <a:off x="2044206" y="4760261"/>
            <a:ext cx="5055577" cy="307777"/>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Analytics: carbon_emissions, energy_costs, daily_energy_summary, audit_logs | Assets: companies → locations → zones → departments → devices → meters | Auth: users (id, username, email, hashed_password, role, is_active) </a:t>
            </a:r>
          </a:p>
        </p:txBody>
      </p:sp>
    </p:spTree>
    <p:extLst>
      <p:ext uri="{BB962C8B-B14F-4D97-AF65-F5344CB8AC3E}">
        <p14:creationId xmlns:p14="http://schemas.microsoft.com/office/powerpoint/2010/main" val="2642843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A8F5E-DCF7-CEBC-81B5-6D125B96C29A}"/>
              </a:ext>
            </a:extLst>
          </p:cNvPr>
          <p:cNvSpPr>
            <a:spLocks noGrp="1"/>
          </p:cNvSpPr>
          <p:nvPr>
            <p:ph type="title"/>
          </p:nvPr>
        </p:nvSpPr>
        <p:spPr>
          <a:xfrm>
            <a:off x="626919" y="9353"/>
            <a:ext cx="8229600" cy="1143000"/>
          </a:xfrm>
        </p:spPr>
        <p:txBody>
          <a:bodyPr>
            <a:normAutofit/>
          </a:bodyPr>
          <a:lstStyle/>
          <a:p>
            <a:r>
              <a:rPr lang="en-IN" sz="2800" b="1" dirty="0">
                <a:latin typeface="Times New Roman" panose="02020603050405020304" pitchFamily="18" charset="0"/>
                <a:cs typeface="Times New Roman" panose="02020603050405020304" pitchFamily="18" charset="0"/>
              </a:rPr>
              <a:t>Database tables </a:t>
            </a:r>
          </a:p>
        </p:txBody>
      </p:sp>
      <p:sp>
        <p:nvSpPr>
          <p:cNvPr id="4" name="Date Placeholder 3">
            <a:extLst>
              <a:ext uri="{FF2B5EF4-FFF2-40B4-BE49-F238E27FC236}">
                <a16:creationId xmlns:a16="http://schemas.microsoft.com/office/drawing/2014/main" id="{50247B10-7487-93F7-4F9D-2965CE43B182}"/>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B2BFE9CC-93C8-0472-660F-A694AA33F0F4}"/>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EA37616A-CFCD-88BA-300C-414B1D531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7" name="TextBox 6">
            <a:extLst>
              <a:ext uri="{FF2B5EF4-FFF2-40B4-BE49-F238E27FC236}">
                <a16:creationId xmlns:a16="http://schemas.microsoft.com/office/drawing/2014/main" id="{7D309D1F-97F0-DBDF-ED88-27EF873CFD2B}"/>
              </a:ext>
            </a:extLst>
          </p:cNvPr>
          <p:cNvSpPr txBox="1"/>
          <p:nvPr/>
        </p:nvSpPr>
        <p:spPr>
          <a:xfrm>
            <a:off x="0" y="6533179"/>
            <a:ext cx="6119760" cy="215444"/>
          </a:xfrm>
          <a:prstGeom prst="rect">
            <a:avLst/>
          </a:prstGeom>
          <a:noFill/>
        </p:spPr>
        <p:txBody>
          <a:bodyPr wrap="square">
            <a:spAutoFit/>
          </a:bodyPr>
          <a:lstStyle/>
          <a:p>
            <a:pPr algn="l"/>
            <a:r>
              <a:rPr sz="800" b="0" i="1">
                <a:solidFill>
                  <a:srgbClr val="B0C4DE"/>
                </a:solidFill>
              </a:rPr>
              <a:t>EN-VISION | AI-Driven Smart Energy Optimization &amp; Carbon Analytics Platform</a:t>
            </a:r>
          </a:p>
        </p:txBody>
      </p:sp>
      <p:sp>
        <p:nvSpPr>
          <p:cNvPr id="8" name="TextBox 7">
            <a:extLst>
              <a:ext uri="{FF2B5EF4-FFF2-40B4-BE49-F238E27FC236}">
                <a16:creationId xmlns:a16="http://schemas.microsoft.com/office/drawing/2014/main" id="{C6D469F7-8124-91B8-69C6-F39C0E4387A7}"/>
              </a:ext>
            </a:extLst>
          </p:cNvPr>
          <p:cNvSpPr txBox="1"/>
          <p:nvPr/>
        </p:nvSpPr>
        <p:spPr>
          <a:xfrm>
            <a:off x="10789920" y="6533179"/>
            <a:ext cx="764970" cy="215444"/>
          </a:xfrm>
          <a:prstGeom prst="rect">
            <a:avLst/>
          </a:prstGeom>
          <a:noFill/>
        </p:spPr>
        <p:txBody>
          <a:bodyPr wrap="square">
            <a:spAutoFit/>
          </a:bodyPr>
          <a:lstStyle/>
          <a:p>
            <a:pPr algn="r"/>
            <a:r>
              <a:rPr sz="800" b="0" i="0">
                <a:solidFill>
                  <a:srgbClr val="B0C4DE"/>
                </a:solidFill>
              </a:rPr>
              <a:t>7 / 21</a:t>
            </a:r>
          </a:p>
        </p:txBody>
      </p:sp>
      <p:sp>
        <p:nvSpPr>
          <p:cNvPr id="9" name="Rectangle 8">
            <a:extLst>
              <a:ext uri="{FF2B5EF4-FFF2-40B4-BE49-F238E27FC236}">
                <a16:creationId xmlns:a16="http://schemas.microsoft.com/office/drawing/2014/main" id="{BB585B52-A8CD-CB9C-BAAA-135BD5F686A4}"/>
              </a:ext>
            </a:extLst>
          </p:cNvPr>
          <p:cNvSpPr/>
          <p:nvPr/>
        </p:nvSpPr>
        <p:spPr>
          <a:xfrm>
            <a:off x="0" y="6533389"/>
            <a:ext cx="9585074" cy="45719"/>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FF2B5EF4-FFF2-40B4-BE49-F238E27FC236}">
                <a16:creationId xmlns:a16="http://schemas.microsoft.com/office/drawing/2014/main" id="{9EBC9E11-3ED3-E5EF-D30B-F51420B8A5C7}"/>
              </a:ext>
            </a:extLst>
          </p:cNvPr>
          <p:cNvSpPr/>
          <p:nvPr/>
        </p:nvSpPr>
        <p:spPr>
          <a:xfrm>
            <a:off x="-9970" y="845255"/>
            <a:ext cx="2562650" cy="3735443"/>
          </a:xfrm>
          <a:prstGeom prst="roundRect">
            <a:avLst>
              <a:gd name="adj" fmla="val 5000"/>
            </a:avLst>
          </a:prstGeom>
          <a:solidFill>
            <a:srgbClr val="0F1D30"/>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24FEB808-A9CB-707B-59F6-A44695B86441}"/>
              </a:ext>
            </a:extLst>
          </p:cNvPr>
          <p:cNvSpPr txBox="1"/>
          <p:nvPr/>
        </p:nvSpPr>
        <p:spPr>
          <a:xfrm>
            <a:off x="109728" y="1084082"/>
            <a:ext cx="2371407" cy="246221"/>
          </a:xfrm>
          <a:prstGeom prst="rect">
            <a:avLst/>
          </a:prstGeom>
          <a:noFill/>
        </p:spPr>
        <p:txBody>
          <a:bodyPr wrap="square">
            <a:spAutoFit/>
          </a:bodyPr>
          <a:lstStyle/>
          <a:p>
            <a:pPr algn="l"/>
            <a:r>
              <a:rPr sz="1000" b="1" i="0">
                <a:solidFill>
                  <a:srgbClr val="00D4FF"/>
                </a:solidFill>
              </a:rPr>
              <a:t>🏢 Asset Hierarchy</a:t>
            </a:r>
          </a:p>
        </p:txBody>
      </p:sp>
      <p:sp>
        <p:nvSpPr>
          <p:cNvPr id="12" name="Rounded Rectangle 11">
            <a:extLst>
              <a:ext uri="{FF2B5EF4-FFF2-40B4-BE49-F238E27FC236}">
                <a16:creationId xmlns:a16="http://schemas.microsoft.com/office/drawing/2014/main" id="{DC662052-C4C8-50F0-38D1-AA59660BEB59}"/>
              </a:ext>
            </a:extLst>
          </p:cNvPr>
          <p:cNvSpPr/>
          <p:nvPr/>
        </p:nvSpPr>
        <p:spPr>
          <a:xfrm>
            <a:off x="137160" y="14380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6A2BA7A4-7228-F2F1-11D8-AFF105DB8219}"/>
              </a:ext>
            </a:extLst>
          </p:cNvPr>
          <p:cNvSpPr txBox="1"/>
          <p:nvPr/>
        </p:nvSpPr>
        <p:spPr>
          <a:xfrm>
            <a:off x="228600" y="1513123"/>
            <a:ext cx="2294910" cy="238527"/>
          </a:xfrm>
          <a:prstGeom prst="rect">
            <a:avLst/>
          </a:prstGeom>
          <a:noFill/>
        </p:spPr>
        <p:txBody>
          <a:bodyPr wrap="square">
            <a:spAutoFit/>
          </a:bodyPr>
          <a:lstStyle/>
          <a:p>
            <a:pPr algn="l"/>
            <a:r>
              <a:rPr sz="950" b="0" i="0">
                <a:solidFill>
                  <a:srgbClr val="FFFFFF"/>
                </a:solidFill>
              </a:rPr>
              <a:t>companies</a:t>
            </a:r>
          </a:p>
        </p:txBody>
      </p:sp>
      <p:sp>
        <p:nvSpPr>
          <p:cNvPr id="14" name="Rounded Rectangle 13">
            <a:extLst>
              <a:ext uri="{FF2B5EF4-FFF2-40B4-BE49-F238E27FC236}">
                <a16:creationId xmlns:a16="http://schemas.microsoft.com/office/drawing/2014/main" id="{EE8C4AB4-AAA6-71AF-B91C-989642155B2B}"/>
              </a:ext>
            </a:extLst>
          </p:cNvPr>
          <p:cNvSpPr/>
          <p:nvPr/>
        </p:nvSpPr>
        <p:spPr>
          <a:xfrm>
            <a:off x="137160" y="18952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68B36E01-C3C8-F45E-7E96-EFB02AA1FD37}"/>
              </a:ext>
            </a:extLst>
          </p:cNvPr>
          <p:cNvSpPr txBox="1"/>
          <p:nvPr/>
        </p:nvSpPr>
        <p:spPr>
          <a:xfrm>
            <a:off x="228600" y="1970323"/>
            <a:ext cx="2294910" cy="238527"/>
          </a:xfrm>
          <a:prstGeom prst="rect">
            <a:avLst/>
          </a:prstGeom>
          <a:noFill/>
        </p:spPr>
        <p:txBody>
          <a:bodyPr wrap="square">
            <a:spAutoFit/>
          </a:bodyPr>
          <a:lstStyle/>
          <a:p>
            <a:pPr algn="l"/>
            <a:r>
              <a:rPr sz="950" b="0" i="0">
                <a:solidFill>
                  <a:srgbClr val="FFFFFF"/>
                </a:solidFill>
              </a:rPr>
              <a:t>locations</a:t>
            </a:r>
          </a:p>
        </p:txBody>
      </p:sp>
      <p:sp>
        <p:nvSpPr>
          <p:cNvPr id="16" name="Rounded Rectangle 15">
            <a:extLst>
              <a:ext uri="{FF2B5EF4-FFF2-40B4-BE49-F238E27FC236}">
                <a16:creationId xmlns:a16="http://schemas.microsoft.com/office/drawing/2014/main" id="{2E137385-3D76-FA7B-0196-5DE33898A708}"/>
              </a:ext>
            </a:extLst>
          </p:cNvPr>
          <p:cNvSpPr/>
          <p:nvPr/>
        </p:nvSpPr>
        <p:spPr>
          <a:xfrm>
            <a:off x="137160" y="23524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429AD869-09C4-D6F2-C87C-92DB095B5469}"/>
              </a:ext>
            </a:extLst>
          </p:cNvPr>
          <p:cNvSpPr txBox="1"/>
          <p:nvPr/>
        </p:nvSpPr>
        <p:spPr>
          <a:xfrm>
            <a:off x="228600" y="2427523"/>
            <a:ext cx="2294910" cy="238527"/>
          </a:xfrm>
          <a:prstGeom prst="rect">
            <a:avLst/>
          </a:prstGeom>
          <a:noFill/>
        </p:spPr>
        <p:txBody>
          <a:bodyPr wrap="square">
            <a:spAutoFit/>
          </a:bodyPr>
          <a:lstStyle/>
          <a:p>
            <a:pPr algn="l"/>
            <a:r>
              <a:rPr sz="950" b="0" i="0">
                <a:solidFill>
                  <a:srgbClr val="FFFFFF"/>
                </a:solidFill>
              </a:rPr>
              <a:t>zones</a:t>
            </a:r>
          </a:p>
        </p:txBody>
      </p:sp>
      <p:sp>
        <p:nvSpPr>
          <p:cNvPr id="18" name="Rounded Rectangle 17">
            <a:extLst>
              <a:ext uri="{FF2B5EF4-FFF2-40B4-BE49-F238E27FC236}">
                <a16:creationId xmlns:a16="http://schemas.microsoft.com/office/drawing/2014/main" id="{FBE59684-A152-CAE6-F965-70DF7B15D84E}"/>
              </a:ext>
            </a:extLst>
          </p:cNvPr>
          <p:cNvSpPr/>
          <p:nvPr/>
        </p:nvSpPr>
        <p:spPr>
          <a:xfrm>
            <a:off x="137160" y="28096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F4330E11-4224-216E-2E58-AD02FD7E85E5}"/>
              </a:ext>
            </a:extLst>
          </p:cNvPr>
          <p:cNvSpPr txBox="1"/>
          <p:nvPr/>
        </p:nvSpPr>
        <p:spPr>
          <a:xfrm>
            <a:off x="228600" y="2884723"/>
            <a:ext cx="2294910" cy="238527"/>
          </a:xfrm>
          <a:prstGeom prst="rect">
            <a:avLst/>
          </a:prstGeom>
          <a:noFill/>
        </p:spPr>
        <p:txBody>
          <a:bodyPr wrap="square">
            <a:spAutoFit/>
          </a:bodyPr>
          <a:lstStyle/>
          <a:p>
            <a:pPr algn="l"/>
            <a:r>
              <a:rPr sz="950" b="0" i="0">
                <a:solidFill>
                  <a:srgbClr val="FFFFFF"/>
                </a:solidFill>
              </a:rPr>
              <a:t>departments</a:t>
            </a:r>
          </a:p>
        </p:txBody>
      </p:sp>
      <p:sp>
        <p:nvSpPr>
          <p:cNvPr id="20" name="Rounded Rectangle 19">
            <a:extLst>
              <a:ext uri="{FF2B5EF4-FFF2-40B4-BE49-F238E27FC236}">
                <a16:creationId xmlns:a16="http://schemas.microsoft.com/office/drawing/2014/main" id="{41FD2834-4A7D-2398-D8CA-2672A580223D}"/>
              </a:ext>
            </a:extLst>
          </p:cNvPr>
          <p:cNvSpPr/>
          <p:nvPr/>
        </p:nvSpPr>
        <p:spPr>
          <a:xfrm>
            <a:off x="137160" y="32668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C3D60E4F-49CC-BFE4-7B62-9575534DFD2C}"/>
              </a:ext>
            </a:extLst>
          </p:cNvPr>
          <p:cNvSpPr txBox="1"/>
          <p:nvPr/>
        </p:nvSpPr>
        <p:spPr>
          <a:xfrm>
            <a:off x="228600" y="3341923"/>
            <a:ext cx="2294910" cy="238527"/>
          </a:xfrm>
          <a:prstGeom prst="rect">
            <a:avLst/>
          </a:prstGeom>
          <a:noFill/>
        </p:spPr>
        <p:txBody>
          <a:bodyPr wrap="square">
            <a:spAutoFit/>
          </a:bodyPr>
          <a:lstStyle/>
          <a:p>
            <a:pPr algn="l"/>
            <a:r>
              <a:rPr sz="950" b="0" i="0">
                <a:solidFill>
                  <a:srgbClr val="FFFFFF"/>
                </a:solidFill>
              </a:rPr>
              <a:t>devices</a:t>
            </a:r>
          </a:p>
        </p:txBody>
      </p:sp>
      <p:sp>
        <p:nvSpPr>
          <p:cNvPr id="22" name="Rounded Rectangle 21">
            <a:extLst>
              <a:ext uri="{FF2B5EF4-FFF2-40B4-BE49-F238E27FC236}">
                <a16:creationId xmlns:a16="http://schemas.microsoft.com/office/drawing/2014/main" id="{2846BB57-2C73-9650-2C18-27FDF86D9FDD}"/>
              </a:ext>
            </a:extLst>
          </p:cNvPr>
          <p:cNvSpPr/>
          <p:nvPr/>
        </p:nvSpPr>
        <p:spPr>
          <a:xfrm>
            <a:off x="137160" y="3724058"/>
            <a:ext cx="2294910" cy="454750"/>
          </a:xfrm>
          <a:prstGeom prst="roundRect">
            <a:avLst>
              <a:gd name="adj" fmla="val 5000"/>
            </a:avLst>
          </a:prstGeom>
          <a:solidFill>
            <a:srgbClr val="162C4A"/>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97E9AB99-57C3-9CCF-7100-D0FED88944E2}"/>
              </a:ext>
            </a:extLst>
          </p:cNvPr>
          <p:cNvSpPr txBox="1"/>
          <p:nvPr/>
        </p:nvSpPr>
        <p:spPr>
          <a:xfrm>
            <a:off x="228600" y="3799123"/>
            <a:ext cx="2294910" cy="238527"/>
          </a:xfrm>
          <a:prstGeom prst="rect">
            <a:avLst/>
          </a:prstGeom>
          <a:noFill/>
        </p:spPr>
        <p:txBody>
          <a:bodyPr wrap="square">
            <a:spAutoFit/>
          </a:bodyPr>
          <a:lstStyle/>
          <a:p>
            <a:pPr algn="l"/>
            <a:r>
              <a:rPr sz="950" b="0" i="0">
                <a:solidFill>
                  <a:srgbClr val="FFFFFF"/>
                </a:solidFill>
              </a:rPr>
              <a:t>meters</a:t>
            </a:r>
          </a:p>
        </p:txBody>
      </p:sp>
      <p:sp>
        <p:nvSpPr>
          <p:cNvPr id="24" name="Rounded Rectangle 23">
            <a:extLst>
              <a:ext uri="{FF2B5EF4-FFF2-40B4-BE49-F238E27FC236}">
                <a16:creationId xmlns:a16="http://schemas.microsoft.com/office/drawing/2014/main" id="{681927AA-B42E-8EE3-43F2-5BEED41895B3}"/>
              </a:ext>
            </a:extLst>
          </p:cNvPr>
          <p:cNvSpPr/>
          <p:nvPr/>
        </p:nvSpPr>
        <p:spPr>
          <a:xfrm>
            <a:off x="2600833" y="871792"/>
            <a:ext cx="2065419" cy="1569969"/>
          </a:xfrm>
          <a:prstGeom prst="roundRect">
            <a:avLst>
              <a:gd name="adj" fmla="val 5000"/>
            </a:avLst>
          </a:prstGeom>
          <a:solidFill>
            <a:srgbClr val="0F1D30"/>
          </a:solidFill>
          <a:ln w="19050">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5" name="TextBox 24">
            <a:extLst>
              <a:ext uri="{FF2B5EF4-FFF2-40B4-BE49-F238E27FC236}">
                <a16:creationId xmlns:a16="http://schemas.microsoft.com/office/drawing/2014/main" id="{9E0B738E-5923-974C-F021-D59584C7EF29}"/>
              </a:ext>
            </a:extLst>
          </p:cNvPr>
          <p:cNvSpPr txBox="1"/>
          <p:nvPr/>
        </p:nvSpPr>
        <p:spPr>
          <a:xfrm>
            <a:off x="2670966" y="1133716"/>
            <a:ext cx="2371407" cy="246221"/>
          </a:xfrm>
          <a:prstGeom prst="rect">
            <a:avLst/>
          </a:prstGeom>
          <a:noFill/>
        </p:spPr>
        <p:txBody>
          <a:bodyPr wrap="square">
            <a:spAutoFit/>
          </a:bodyPr>
          <a:lstStyle/>
          <a:p>
            <a:pPr algn="l"/>
            <a:r>
              <a:rPr sz="1000" b="1" i="0">
                <a:solidFill>
                  <a:srgbClr val="FFB705"/>
                </a:solidFill>
              </a:rPr>
              <a:t>⚡ Raw Energy Data</a:t>
            </a:r>
          </a:p>
        </p:txBody>
      </p:sp>
      <p:sp>
        <p:nvSpPr>
          <p:cNvPr id="26" name="Rounded Rectangle 25">
            <a:extLst>
              <a:ext uri="{FF2B5EF4-FFF2-40B4-BE49-F238E27FC236}">
                <a16:creationId xmlns:a16="http://schemas.microsoft.com/office/drawing/2014/main" id="{59668FED-7861-47D3-83A1-4D25935E388A}"/>
              </a:ext>
            </a:extLst>
          </p:cNvPr>
          <p:cNvSpPr/>
          <p:nvPr/>
        </p:nvSpPr>
        <p:spPr>
          <a:xfrm>
            <a:off x="2725940" y="1487692"/>
            <a:ext cx="1835928" cy="454750"/>
          </a:xfrm>
          <a:prstGeom prst="roundRect">
            <a:avLst>
              <a:gd name="adj" fmla="val 5000"/>
            </a:avLst>
          </a:prstGeom>
          <a:solidFill>
            <a:srgbClr val="162C4A"/>
          </a:solidFill>
          <a:ln w="9525">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36286A56-F1A2-2ECF-38D2-019984C3534B}"/>
              </a:ext>
            </a:extLst>
          </p:cNvPr>
          <p:cNvSpPr txBox="1"/>
          <p:nvPr/>
        </p:nvSpPr>
        <p:spPr>
          <a:xfrm>
            <a:off x="2817380" y="1562757"/>
            <a:ext cx="2294910" cy="238527"/>
          </a:xfrm>
          <a:prstGeom prst="rect">
            <a:avLst/>
          </a:prstGeom>
          <a:noFill/>
        </p:spPr>
        <p:txBody>
          <a:bodyPr wrap="square">
            <a:spAutoFit/>
          </a:bodyPr>
          <a:lstStyle/>
          <a:p>
            <a:pPr algn="l"/>
            <a:r>
              <a:rPr sz="950" b="0" i="0">
                <a:solidFill>
                  <a:srgbClr val="FFFFFF"/>
                </a:solidFill>
              </a:rPr>
              <a:t>energy_events</a:t>
            </a:r>
          </a:p>
        </p:txBody>
      </p:sp>
      <p:sp>
        <p:nvSpPr>
          <p:cNvPr id="28" name="Rounded Rectangle 27">
            <a:extLst>
              <a:ext uri="{FF2B5EF4-FFF2-40B4-BE49-F238E27FC236}">
                <a16:creationId xmlns:a16="http://schemas.microsoft.com/office/drawing/2014/main" id="{C6059D5E-2BBD-8DB8-6A27-7950AE2F0072}"/>
              </a:ext>
            </a:extLst>
          </p:cNvPr>
          <p:cNvSpPr/>
          <p:nvPr/>
        </p:nvSpPr>
        <p:spPr>
          <a:xfrm>
            <a:off x="2719703" y="1926391"/>
            <a:ext cx="1835928" cy="454750"/>
          </a:xfrm>
          <a:prstGeom prst="roundRect">
            <a:avLst>
              <a:gd name="adj" fmla="val 5000"/>
            </a:avLst>
          </a:prstGeom>
          <a:solidFill>
            <a:srgbClr val="162C4A"/>
          </a:solidFill>
          <a:ln w="9525">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4AB0ABF9-9F64-3CDA-F6CE-A0DF89832E38}"/>
              </a:ext>
            </a:extLst>
          </p:cNvPr>
          <p:cNvSpPr txBox="1"/>
          <p:nvPr/>
        </p:nvSpPr>
        <p:spPr>
          <a:xfrm>
            <a:off x="2817380" y="2019957"/>
            <a:ext cx="2294910" cy="238527"/>
          </a:xfrm>
          <a:prstGeom prst="rect">
            <a:avLst/>
          </a:prstGeom>
          <a:noFill/>
        </p:spPr>
        <p:txBody>
          <a:bodyPr wrap="square">
            <a:spAutoFit/>
          </a:bodyPr>
          <a:lstStyle/>
          <a:p>
            <a:pPr algn="l"/>
            <a:r>
              <a:rPr sz="950" b="0" i="0">
                <a:solidFill>
                  <a:srgbClr val="FFFFFF"/>
                </a:solidFill>
              </a:rPr>
              <a:t>energy_readings</a:t>
            </a:r>
          </a:p>
        </p:txBody>
      </p:sp>
      <p:sp>
        <p:nvSpPr>
          <p:cNvPr id="30" name="Rounded Rectangle 29">
            <a:extLst>
              <a:ext uri="{FF2B5EF4-FFF2-40B4-BE49-F238E27FC236}">
                <a16:creationId xmlns:a16="http://schemas.microsoft.com/office/drawing/2014/main" id="{3DA5E57D-2C14-CB3F-4549-0BFCF4E9DE7E}"/>
              </a:ext>
            </a:extLst>
          </p:cNvPr>
          <p:cNvSpPr/>
          <p:nvPr/>
        </p:nvSpPr>
        <p:spPr>
          <a:xfrm>
            <a:off x="4852036" y="830144"/>
            <a:ext cx="2065419" cy="1569969"/>
          </a:xfrm>
          <a:prstGeom prst="roundRect">
            <a:avLst>
              <a:gd name="adj" fmla="val 5000"/>
            </a:avLst>
          </a:prstGeom>
          <a:solidFill>
            <a:srgbClr val="0F1D30"/>
          </a:solidFill>
          <a:ln w="19050">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1" name="TextBox 30">
            <a:extLst>
              <a:ext uri="{FF2B5EF4-FFF2-40B4-BE49-F238E27FC236}">
                <a16:creationId xmlns:a16="http://schemas.microsoft.com/office/drawing/2014/main" id="{ED84CD1B-5DF9-7AA2-04E3-F9D4E5E69E60}"/>
              </a:ext>
            </a:extLst>
          </p:cNvPr>
          <p:cNvSpPr txBox="1"/>
          <p:nvPr/>
        </p:nvSpPr>
        <p:spPr>
          <a:xfrm>
            <a:off x="5027437" y="982763"/>
            <a:ext cx="2371407" cy="246221"/>
          </a:xfrm>
          <a:prstGeom prst="rect">
            <a:avLst/>
          </a:prstGeom>
          <a:noFill/>
        </p:spPr>
        <p:txBody>
          <a:bodyPr wrap="square">
            <a:spAutoFit/>
          </a:bodyPr>
          <a:lstStyle/>
          <a:p>
            <a:pPr algn="l"/>
            <a:r>
              <a:rPr sz="1000" b="1" i="0" dirty="0">
                <a:solidFill>
                  <a:srgbClr val="06D67E"/>
                </a:solidFill>
              </a:rPr>
              <a:t>📊 Aggregated Data</a:t>
            </a:r>
          </a:p>
        </p:txBody>
      </p:sp>
      <p:sp>
        <p:nvSpPr>
          <p:cNvPr id="32" name="Rounded Rectangle 31">
            <a:extLst>
              <a:ext uri="{FF2B5EF4-FFF2-40B4-BE49-F238E27FC236}">
                <a16:creationId xmlns:a16="http://schemas.microsoft.com/office/drawing/2014/main" id="{FFD4D539-9A9E-99D9-8800-BE6897B0A093}"/>
              </a:ext>
            </a:extLst>
          </p:cNvPr>
          <p:cNvSpPr/>
          <p:nvPr/>
        </p:nvSpPr>
        <p:spPr>
          <a:xfrm>
            <a:off x="4914551" y="1262812"/>
            <a:ext cx="1835928" cy="454750"/>
          </a:xfrm>
          <a:prstGeom prst="roundRect">
            <a:avLst>
              <a:gd name="adj" fmla="val 5000"/>
            </a:avLst>
          </a:prstGeom>
          <a:solidFill>
            <a:srgbClr val="162C4A"/>
          </a:solidFill>
          <a:ln w="9525">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TextBox 32">
            <a:extLst>
              <a:ext uri="{FF2B5EF4-FFF2-40B4-BE49-F238E27FC236}">
                <a16:creationId xmlns:a16="http://schemas.microsoft.com/office/drawing/2014/main" id="{77C92608-847E-1EDD-99DF-0EAE613B5C4A}"/>
              </a:ext>
            </a:extLst>
          </p:cNvPr>
          <p:cNvSpPr txBox="1"/>
          <p:nvPr/>
        </p:nvSpPr>
        <p:spPr>
          <a:xfrm>
            <a:off x="4956608" y="1270363"/>
            <a:ext cx="2294910" cy="238527"/>
          </a:xfrm>
          <a:prstGeom prst="rect">
            <a:avLst/>
          </a:prstGeom>
          <a:noFill/>
        </p:spPr>
        <p:txBody>
          <a:bodyPr wrap="square">
            <a:spAutoFit/>
          </a:bodyPr>
          <a:lstStyle/>
          <a:p>
            <a:pPr algn="l"/>
            <a:r>
              <a:rPr sz="950" b="0" i="0" dirty="0">
                <a:solidFill>
                  <a:srgbClr val="FFFFFF"/>
                </a:solidFill>
              </a:rPr>
              <a:t>energy_agg_hourly</a:t>
            </a:r>
          </a:p>
        </p:txBody>
      </p:sp>
      <p:sp>
        <p:nvSpPr>
          <p:cNvPr id="34" name="Rounded Rectangle 33">
            <a:extLst>
              <a:ext uri="{FF2B5EF4-FFF2-40B4-BE49-F238E27FC236}">
                <a16:creationId xmlns:a16="http://schemas.microsoft.com/office/drawing/2014/main" id="{A3FA7FE2-203C-98F4-C5BE-9BEF5B38ECCD}"/>
              </a:ext>
            </a:extLst>
          </p:cNvPr>
          <p:cNvSpPr/>
          <p:nvPr/>
        </p:nvSpPr>
        <p:spPr>
          <a:xfrm>
            <a:off x="4952079" y="1782892"/>
            <a:ext cx="1835928" cy="454750"/>
          </a:xfrm>
          <a:prstGeom prst="roundRect">
            <a:avLst>
              <a:gd name="adj" fmla="val 5000"/>
            </a:avLst>
          </a:prstGeom>
          <a:solidFill>
            <a:srgbClr val="162C4A"/>
          </a:solidFill>
          <a:ln w="9525">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5" name="TextBox 34">
            <a:extLst>
              <a:ext uri="{FF2B5EF4-FFF2-40B4-BE49-F238E27FC236}">
                <a16:creationId xmlns:a16="http://schemas.microsoft.com/office/drawing/2014/main" id="{E74C1EAF-B3EE-5236-EC40-B085F9A9D012}"/>
              </a:ext>
            </a:extLst>
          </p:cNvPr>
          <p:cNvSpPr txBox="1"/>
          <p:nvPr/>
        </p:nvSpPr>
        <p:spPr>
          <a:xfrm>
            <a:off x="5027437" y="1887914"/>
            <a:ext cx="2294910" cy="238527"/>
          </a:xfrm>
          <a:prstGeom prst="rect">
            <a:avLst/>
          </a:prstGeom>
          <a:noFill/>
        </p:spPr>
        <p:txBody>
          <a:bodyPr wrap="square">
            <a:spAutoFit/>
          </a:bodyPr>
          <a:lstStyle/>
          <a:p>
            <a:pPr algn="l"/>
            <a:r>
              <a:rPr sz="950" b="0" i="0" dirty="0">
                <a:solidFill>
                  <a:srgbClr val="FFFFFF"/>
                </a:solidFill>
              </a:rPr>
              <a:t>energy_agg_daily</a:t>
            </a:r>
          </a:p>
        </p:txBody>
      </p:sp>
      <p:sp>
        <p:nvSpPr>
          <p:cNvPr id="36" name="Rounded Rectangle 35">
            <a:extLst>
              <a:ext uri="{FF2B5EF4-FFF2-40B4-BE49-F238E27FC236}">
                <a16:creationId xmlns:a16="http://schemas.microsoft.com/office/drawing/2014/main" id="{F2987075-53E3-4C58-D0B6-37B28CDF94D3}"/>
              </a:ext>
            </a:extLst>
          </p:cNvPr>
          <p:cNvSpPr/>
          <p:nvPr/>
        </p:nvSpPr>
        <p:spPr>
          <a:xfrm>
            <a:off x="6899739" y="830144"/>
            <a:ext cx="1937394" cy="1033758"/>
          </a:xfrm>
          <a:prstGeom prst="roundRect">
            <a:avLst>
              <a:gd name="adj" fmla="val 5000"/>
            </a:avLst>
          </a:prstGeom>
          <a:solidFill>
            <a:srgbClr val="0F1D30"/>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TextBox 36">
            <a:extLst>
              <a:ext uri="{FF2B5EF4-FFF2-40B4-BE49-F238E27FC236}">
                <a16:creationId xmlns:a16="http://schemas.microsoft.com/office/drawing/2014/main" id="{6CA4BAC5-5C7D-3609-461E-42E622603DD7}"/>
              </a:ext>
            </a:extLst>
          </p:cNvPr>
          <p:cNvSpPr txBox="1"/>
          <p:nvPr/>
        </p:nvSpPr>
        <p:spPr>
          <a:xfrm>
            <a:off x="7325363" y="1131336"/>
            <a:ext cx="2371407" cy="246221"/>
          </a:xfrm>
          <a:prstGeom prst="rect">
            <a:avLst/>
          </a:prstGeom>
          <a:noFill/>
        </p:spPr>
        <p:txBody>
          <a:bodyPr wrap="square">
            <a:spAutoFit/>
          </a:bodyPr>
          <a:lstStyle/>
          <a:p>
            <a:pPr algn="l"/>
            <a:r>
              <a:rPr sz="1000" b="1" i="0">
                <a:solidFill>
                  <a:srgbClr val="FF6B35"/>
                </a:solidFill>
              </a:rPr>
              <a:t>📐 Baselines</a:t>
            </a:r>
          </a:p>
        </p:txBody>
      </p:sp>
      <p:sp>
        <p:nvSpPr>
          <p:cNvPr id="38" name="Rounded Rectangle 37">
            <a:extLst>
              <a:ext uri="{FF2B5EF4-FFF2-40B4-BE49-F238E27FC236}">
                <a16:creationId xmlns:a16="http://schemas.microsoft.com/office/drawing/2014/main" id="{261184E2-6C47-36E8-0CB1-9900F4079505}"/>
              </a:ext>
            </a:extLst>
          </p:cNvPr>
          <p:cNvSpPr/>
          <p:nvPr/>
        </p:nvSpPr>
        <p:spPr>
          <a:xfrm>
            <a:off x="7001205" y="1307710"/>
            <a:ext cx="1835928" cy="454750"/>
          </a:xfrm>
          <a:prstGeom prst="roundRect">
            <a:avLst>
              <a:gd name="adj" fmla="val 5000"/>
            </a:avLst>
          </a:prstGeom>
          <a:solidFill>
            <a:srgbClr val="162C4A"/>
          </a:solidFill>
          <a:ln w="9525">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4AA3F008-5F21-9D7B-76D1-5DE1D729FC37}"/>
              </a:ext>
            </a:extLst>
          </p:cNvPr>
          <p:cNvSpPr txBox="1"/>
          <p:nvPr/>
        </p:nvSpPr>
        <p:spPr>
          <a:xfrm>
            <a:off x="7505218" y="1541824"/>
            <a:ext cx="2294910" cy="238527"/>
          </a:xfrm>
          <a:prstGeom prst="rect">
            <a:avLst/>
          </a:prstGeom>
          <a:noFill/>
        </p:spPr>
        <p:txBody>
          <a:bodyPr wrap="square">
            <a:spAutoFit/>
          </a:bodyPr>
          <a:lstStyle/>
          <a:p>
            <a:pPr algn="l"/>
            <a:r>
              <a:rPr sz="950" b="0" i="0">
                <a:solidFill>
                  <a:srgbClr val="FFFFFF"/>
                </a:solidFill>
              </a:rPr>
              <a:t>baseline_metrics</a:t>
            </a:r>
          </a:p>
        </p:txBody>
      </p:sp>
      <p:sp>
        <p:nvSpPr>
          <p:cNvPr id="40" name="Rounded Rectangle 49">
            <a:extLst>
              <a:ext uri="{FF2B5EF4-FFF2-40B4-BE49-F238E27FC236}">
                <a16:creationId xmlns:a16="http://schemas.microsoft.com/office/drawing/2014/main" id="{BD14FC22-AE2B-325C-90C2-8336918650D7}"/>
              </a:ext>
            </a:extLst>
          </p:cNvPr>
          <p:cNvSpPr/>
          <p:nvPr/>
        </p:nvSpPr>
        <p:spPr>
          <a:xfrm>
            <a:off x="0" y="4686400"/>
            <a:ext cx="2065419" cy="1028600"/>
          </a:xfrm>
          <a:prstGeom prst="roundRect">
            <a:avLst>
              <a:gd name="adj" fmla="val 5000"/>
            </a:avLst>
          </a:prstGeom>
          <a:solidFill>
            <a:srgbClr val="0F1D3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2473CF6F-9AD0-A924-2344-B8E9D91F4063}"/>
              </a:ext>
            </a:extLst>
          </p:cNvPr>
          <p:cNvSpPr txBox="1"/>
          <p:nvPr/>
        </p:nvSpPr>
        <p:spPr>
          <a:xfrm>
            <a:off x="109728" y="4833122"/>
            <a:ext cx="2371407" cy="246221"/>
          </a:xfrm>
          <a:prstGeom prst="rect">
            <a:avLst/>
          </a:prstGeom>
          <a:noFill/>
        </p:spPr>
        <p:txBody>
          <a:bodyPr wrap="square">
            <a:spAutoFit/>
          </a:bodyPr>
          <a:lstStyle/>
          <a:p>
            <a:pPr algn="l"/>
            <a:r>
              <a:rPr sz="1000" b="1" i="0">
                <a:solidFill>
                  <a:srgbClr val="00B4D8"/>
                </a:solidFill>
              </a:rPr>
              <a:t>🔐 Auth</a:t>
            </a:r>
          </a:p>
        </p:txBody>
      </p:sp>
      <p:sp>
        <p:nvSpPr>
          <p:cNvPr id="42" name="Rounded Rectangle 51">
            <a:extLst>
              <a:ext uri="{FF2B5EF4-FFF2-40B4-BE49-F238E27FC236}">
                <a16:creationId xmlns:a16="http://schemas.microsoft.com/office/drawing/2014/main" id="{D517000B-A36D-9B47-DE20-2BB5207910DB}"/>
              </a:ext>
            </a:extLst>
          </p:cNvPr>
          <p:cNvSpPr/>
          <p:nvPr/>
        </p:nvSpPr>
        <p:spPr>
          <a:xfrm>
            <a:off x="137160" y="5187098"/>
            <a:ext cx="1835928" cy="454750"/>
          </a:xfrm>
          <a:prstGeom prst="roundRect">
            <a:avLst>
              <a:gd name="adj" fmla="val 5000"/>
            </a:avLst>
          </a:prstGeom>
          <a:solidFill>
            <a:srgbClr val="162C4A"/>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68A14D38-3405-387F-9B3D-D33C0AA241C2}"/>
              </a:ext>
            </a:extLst>
          </p:cNvPr>
          <p:cNvSpPr txBox="1"/>
          <p:nvPr/>
        </p:nvSpPr>
        <p:spPr>
          <a:xfrm>
            <a:off x="228600" y="5262163"/>
            <a:ext cx="2294910" cy="238527"/>
          </a:xfrm>
          <a:prstGeom prst="rect">
            <a:avLst/>
          </a:prstGeom>
          <a:noFill/>
        </p:spPr>
        <p:txBody>
          <a:bodyPr wrap="square">
            <a:spAutoFit/>
          </a:bodyPr>
          <a:lstStyle/>
          <a:p>
            <a:pPr algn="l"/>
            <a:r>
              <a:rPr sz="950" b="0" i="0">
                <a:solidFill>
                  <a:srgbClr val="FFFFFF"/>
                </a:solidFill>
              </a:rPr>
              <a:t>users</a:t>
            </a:r>
          </a:p>
        </p:txBody>
      </p:sp>
      <p:sp>
        <p:nvSpPr>
          <p:cNvPr id="44" name="Rounded Rectangle 53">
            <a:extLst>
              <a:ext uri="{FF2B5EF4-FFF2-40B4-BE49-F238E27FC236}">
                <a16:creationId xmlns:a16="http://schemas.microsoft.com/office/drawing/2014/main" id="{4D3516AA-8340-F636-5184-12F0427DB2C3}"/>
              </a:ext>
            </a:extLst>
          </p:cNvPr>
          <p:cNvSpPr/>
          <p:nvPr/>
        </p:nvSpPr>
        <p:spPr>
          <a:xfrm>
            <a:off x="2637187" y="2726341"/>
            <a:ext cx="6445629" cy="2760980"/>
          </a:xfrm>
          <a:prstGeom prst="roundRect">
            <a:avLst>
              <a:gd name="adj" fmla="val 5000"/>
            </a:avLst>
          </a:prstGeom>
          <a:solidFill>
            <a:srgbClr val="12233A"/>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5" name="TextBox 44">
            <a:extLst>
              <a:ext uri="{FF2B5EF4-FFF2-40B4-BE49-F238E27FC236}">
                <a16:creationId xmlns:a16="http://schemas.microsoft.com/office/drawing/2014/main" id="{A41B52F8-2277-B78F-8ECA-9C8D7CE7B5D5}"/>
              </a:ext>
            </a:extLst>
          </p:cNvPr>
          <p:cNvSpPr txBox="1"/>
          <p:nvPr/>
        </p:nvSpPr>
        <p:spPr>
          <a:xfrm>
            <a:off x="3371403" y="3379226"/>
            <a:ext cx="6655238" cy="261610"/>
          </a:xfrm>
          <a:prstGeom prst="rect">
            <a:avLst/>
          </a:prstGeom>
          <a:noFill/>
        </p:spPr>
        <p:txBody>
          <a:bodyPr wrap="square">
            <a:spAutoFit/>
          </a:bodyPr>
          <a:lstStyle/>
          <a:p>
            <a:pPr algn="l"/>
            <a:r>
              <a:rPr sz="1100" b="1" i="0" dirty="0">
                <a:solidFill>
                  <a:srgbClr val="00D4FF"/>
                </a:solidFill>
              </a:rPr>
              <a:t>Key Table Fields</a:t>
            </a:r>
          </a:p>
        </p:txBody>
      </p:sp>
      <p:sp>
        <p:nvSpPr>
          <p:cNvPr id="46" name="TextBox 45">
            <a:extLst>
              <a:ext uri="{FF2B5EF4-FFF2-40B4-BE49-F238E27FC236}">
                <a16:creationId xmlns:a16="http://schemas.microsoft.com/office/drawing/2014/main" id="{7B0F5C40-8336-E8D0-5701-D72D654151C7}"/>
              </a:ext>
            </a:extLst>
          </p:cNvPr>
          <p:cNvSpPr txBox="1"/>
          <p:nvPr/>
        </p:nvSpPr>
        <p:spPr>
          <a:xfrm>
            <a:off x="3371402" y="3744986"/>
            <a:ext cx="1415195" cy="230832"/>
          </a:xfrm>
          <a:prstGeom prst="rect">
            <a:avLst/>
          </a:prstGeom>
          <a:noFill/>
        </p:spPr>
        <p:txBody>
          <a:bodyPr wrap="square">
            <a:spAutoFit/>
          </a:bodyPr>
          <a:lstStyle/>
          <a:p>
            <a:pPr algn="l"/>
            <a:r>
              <a:rPr sz="900" b="1" i="0">
                <a:solidFill>
                  <a:srgbClr val="FFB705"/>
                </a:solidFill>
              </a:rPr>
              <a:t>energy_events</a:t>
            </a:r>
          </a:p>
        </p:txBody>
      </p:sp>
      <p:sp>
        <p:nvSpPr>
          <p:cNvPr id="47" name="TextBox 46">
            <a:extLst>
              <a:ext uri="{FF2B5EF4-FFF2-40B4-BE49-F238E27FC236}">
                <a16:creationId xmlns:a16="http://schemas.microsoft.com/office/drawing/2014/main" id="{5AD6B081-32FB-E075-1E82-3ED173365A7C}"/>
              </a:ext>
            </a:extLst>
          </p:cNvPr>
          <p:cNvSpPr txBox="1"/>
          <p:nvPr/>
        </p:nvSpPr>
        <p:spPr>
          <a:xfrm>
            <a:off x="5108762" y="3744986"/>
            <a:ext cx="5201796" cy="223138"/>
          </a:xfrm>
          <a:prstGeom prst="rect">
            <a:avLst/>
          </a:prstGeom>
          <a:noFill/>
        </p:spPr>
        <p:txBody>
          <a:bodyPr wrap="square">
            <a:spAutoFit/>
          </a:bodyPr>
          <a:lstStyle/>
          <a:p>
            <a:pPr algn="l"/>
            <a:r>
              <a:rPr sz="850" b="0" i="0" dirty="0">
                <a:solidFill>
                  <a:srgbClr val="E8F4FD"/>
                </a:solidFill>
              </a:rPr>
              <a:t>id · </a:t>
            </a:r>
            <a:r>
              <a:rPr sz="850" b="0" i="0" dirty="0" err="1">
                <a:solidFill>
                  <a:srgbClr val="E8F4FD"/>
                </a:solidFill>
              </a:rPr>
              <a:t>device_id</a:t>
            </a:r>
            <a:r>
              <a:rPr sz="850" b="0" i="0" dirty="0">
                <a:solidFill>
                  <a:srgbClr val="E8F4FD"/>
                </a:solidFill>
              </a:rPr>
              <a:t> · timestamp · kwh · </a:t>
            </a:r>
            <a:r>
              <a:rPr sz="850" b="0" i="0" dirty="0" err="1">
                <a:solidFill>
                  <a:srgbClr val="E8F4FD"/>
                </a:solidFill>
              </a:rPr>
              <a:t>source_type</a:t>
            </a:r>
            <a:r>
              <a:rPr sz="850" b="0" i="0" dirty="0">
                <a:solidFill>
                  <a:srgbClr val="E8F4FD"/>
                </a:solidFill>
              </a:rPr>
              <a:t> · </a:t>
            </a:r>
            <a:r>
              <a:rPr sz="850" b="0" i="0" dirty="0" err="1">
                <a:solidFill>
                  <a:srgbClr val="E8F4FD"/>
                </a:solidFill>
              </a:rPr>
              <a:t>raw_metadata</a:t>
            </a:r>
            <a:endParaRPr sz="850" b="0" i="0" dirty="0">
              <a:solidFill>
                <a:srgbClr val="E8F4FD"/>
              </a:solidFill>
            </a:endParaRPr>
          </a:p>
        </p:txBody>
      </p:sp>
      <p:sp>
        <p:nvSpPr>
          <p:cNvPr id="48" name="TextBox 47">
            <a:extLst>
              <a:ext uri="{FF2B5EF4-FFF2-40B4-BE49-F238E27FC236}">
                <a16:creationId xmlns:a16="http://schemas.microsoft.com/office/drawing/2014/main" id="{579CDC1F-D6BC-23E1-96F6-D953BB1AEB13}"/>
              </a:ext>
            </a:extLst>
          </p:cNvPr>
          <p:cNvSpPr txBox="1"/>
          <p:nvPr/>
        </p:nvSpPr>
        <p:spPr>
          <a:xfrm>
            <a:off x="3371402" y="4092458"/>
            <a:ext cx="1415195" cy="230832"/>
          </a:xfrm>
          <a:prstGeom prst="rect">
            <a:avLst/>
          </a:prstGeom>
          <a:noFill/>
        </p:spPr>
        <p:txBody>
          <a:bodyPr wrap="square">
            <a:spAutoFit/>
          </a:bodyPr>
          <a:lstStyle/>
          <a:p>
            <a:pPr algn="l"/>
            <a:r>
              <a:rPr sz="900" b="1" i="0">
                <a:solidFill>
                  <a:srgbClr val="FFB705"/>
                </a:solidFill>
              </a:rPr>
              <a:t>baseline_metrics</a:t>
            </a:r>
          </a:p>
        </p:txBody>
      </p:sp>
      <p:sp>
        <p:nvSpPr>
          <p:cNvPr id="49" name="TextBox 48">
            <a:extLst>
              <a:ext uri="{FF2B5EF4-FFF2-40B4-BE49-F238E27FC236}">
                <a16:creationId xmlns:a16="http://schemas.microsoft.com/office/drawing/2014/main" id="{57703FF3-4478-F0B6-410E-555F98544C8A}"/>
              </a:ext>
            </a:extLst>
          </p:cNvPr>
          <p:cNvSpPr txBox="1"/>
          <p:nvPr/>
        </p:nvSpPr>
        <p:spPr>
          <a:xfrm>
            <a:off x="5108762" y="4092458"/>
            <a:ext cx="5201796" cy="223138"/>
          </a:xfrm>
          <a:prstGeom prst="rect">
            <a:avLst/>
          </a:prstGeom>
          <a:noFill/>
        </p:spPr>
        <p:txBody>
          <a:bodyPr wrap="square">
            <a:spAutoFit/>
          </a:bodyPr>
          <a:lstStyle/>
          <a:p>
            <a:pPr algn="l"/>
            <a:r>
              <a:rPr sz="850" b="0" i="0" dirty="0" err="1">
                <a:solidFill>
                  <a:srgbClr val="E8F4FD"/>
                </a:solidFill>
              </a:rPr>
              <a:t>device_id</a:t>
            </a:r>
            <a:r>
              <a:rPr sz="850" b="0" i="0" dirty="0">
                <a:solidFill>
                  <a:srgbClr val="E8F4FD"/>
                </a:solidFill>
              </a:rPr>
              <a:t> · </a:t>
            </a:r>
            <a:r>
              <a:rPr sz="850" b="0" i="0" dirty="0" err="1">
                <a:solidFill>
                  <a:srgbClr val="E8F4FD"/>
                </a:solidFill>
              </a:rPr>
              <a:t>dept_id</a:t>
            </a:r>
            <a:r>
              <a:rPr sz="850" b="0" i="0" dirty="0">
                <a:solidFill>
                  <a:srgbClr val="E8F4FD"/>
                </a:solidFill>
              </a:rPr>
              <a:t> · </a:t>
            </a:r>
            <a:r>
              <a:rPr sz="850" b="0" i="0" dirty="0" err="1">
                <a:solidFill>
                  <a:srgbClr val="E8F4FD"/>
                </a:solidFill>
              </a:rPr>
              <a:t>baseline_kwh</a:t>
            </a:r>
            <a:r>
              <a:rPr sz="850" b="0" i="0" dirty="0">
                <a:solidFill>
                  <a:srgbClr val="E8F4FD"/>
                </a:solidFill>
              </a:rPr>
              <a:t> · </a:t>
            </a:r>
            <a:r>
              <a:rPr sz="850" b="0" i="0" dirty="0" err="1">
                <a:solidFill>
                  <a:srgbClr val="E8F4FD"/>
                </a:solidFill>
              </a:rPr>
              <a:t>stddev</a:t>
            </a:r>
            <a:r>
              <a:rPr sz="850" b="0" i="0" dirty="0">
                <a:solidFill>
                  <a:srgbClr val="E8F4FD"/>
                </a:solidFill>
              </a:rPr>
              <a:t> · </a:t>
            </a:r>
            <a:r>
              <a:rPr sz="850" b="0" i="0" dirty="0" err="1">
                <a:solidFill>
                  <a:srgbClr val="E8F4FD"/>
                </a:solidFill>
              </a:rPr>
              <a:t>window_days</a:t>
            </a:r>
            <a:endParaRPr sz="850" b="0" i="0" dirty="0">
              <a:solidFill>
                <a:srgbClr val="E8F4FD"/>
              </a:solidFill>
            </a:endParaRPr>
          </a:p>
        </p:txBody>
      </p:sp>
      <p:sp>
        <p:nvSpPr>
          <p:cNvPr id="50" name="TextBox 49">
            <a:extLst>
              <a:ext uri="{FF2B5EF4-FFF2-40B4-BE49-F238E27FC236}">
                <a16:creationId xmlns:a16="http://schemas.microsoft.com/office/drawing/2014/main" id="{B00EAF0E-6540-B69C-C646-DFD78E8EA9B5}"/>
              </a:ext>
            </a:extLst>
          </p:cNvPr>
          <p:cNvSpPr txBox="1"/>
          <p:nvPr/>
        </p:nvSpPr>
        <p:spPr>
          <a:xfrm>
            <a:off x="3371402" y="4439930"/>
            <a:ext cx="1415195" cy="230832"/>
          </a:xfrm>
          <a:prstGeom prst="rect">
            <a:avLst/>
          </a:prstGeom>
          <a:noFill/>
        </p:spPr>
        <p:txBody>
          <a:bodyPr wrap="square">
            <a:spAutoFit/>
          </a:bodyPr>
          <a:lstStyle/>
          <a:p>
            <a:pPr algn="l"/>
            <a:r>
              <a:rPr sz="900" b="1" i="0">
                <a:solidFill>
                  <a:srgbClr val="FFB705"/>
                </a:solidFill>
              </a:rPr>
              <a:t>carbon_emissions</a:t>
            </a:r>
          </a:p>
        </p:txBody>
      </p:sp>
      <p:sp>
        <p:nvSpPr>
          <p:cNvPr id="51" name="TextBox 50">
            <a:extLst>
              <a:ext uri="{FF2B5EF4-FFF2-40B4-BE49-F238E27FC236}">
                <a16:creationId xmlns:a16="http://schemas.microsoft.com/office/drawing/2014/main" id="{58F5C58F-40DD-25BC-9A93-DFF747996BE1}"/>
              </a:ext>
            </a:extLst>
          </p:cNvPr>
          <p:cNvSpPr txBox="1"/>
          <p:nvPr/>
        </p:nvSpPr>
        <p:spPr>
          <a:xfrm>
            <a:off x="5108762" y="4439930"/>
            <a:ext cx="5201796" cy="223138"/>
          </a:xfrm>
          <a:prstGeom prst="rect">
            <a:avLst/>
          </a:prstGeom>
          <a:noFill/>
        </p:spPr>
        <p:txBody>
          <a:bodyPr wrap="square">
            <a:spAutoFit/>
          </a:bodyPr>
          <a:lstStyle/>
          <a:p>
            <a:pPr algn="l"/>
            <a:r>
              <a:rPr sz="850" b="0" i="0">
                <a:solidFill>
                  <a:srgbClr val="E8F4FD"/>
                </a:solidFill>
              </a:rPr>
              <a:t>id · source_id · source_type · co2_kg · emission_factor · region</a:t>
            </a:r>
          </a:p>
        </p:txBody>
      </p:sp>
      <p:sp>
        <p:nvSpPr>
          <p:cNvPr id="52" name="TextBox 51">
            <a:extLst>
              <a:ext uri="{FF2B5EF4-FFF2-40B4-BE49-F238E27FC236}">
                <a16:creationId xmlns:a16="http://schemas.microsoft.com/office/drawing/2014/main" id="{419B174D-18F2-A6D8-ED4B-DEEFE164069D}"/>
              </a:ext>
            </a:extLst>
          </p:cNvPr>
          <p:cNvSpPr txBox="1"/>
          <p:nvPr/>
        </p:nvSpPr>
        <p:spPr>
          <a:xfrm>
            <a:off x="3371402" y="4787402"/>
            <a:ext cx="1415195" cy="230832"/>
          </a:xfrm>
          <a:prstGeom prst="rect">
            <a:avLst/>
          </a:prstGeom>
          <a:noFill/>
        </p:spPr>
        <p:txBody>
          <a:bodyPr wrap="square">
            <a:spAutoFit/>
          </a:bodyPr>
          <a:lstStyle/>
          <a:p>
            <a:pPr algn="l"/>
            <a:r>
              <a:rPr sz="900" b="1" i="0">
                <a:solidFill>
                  <a:srgbClr val="FFB705"/>
                </a:solidFill>
              </a:rPr>
              <a:t>users</a:t>
            </a:r>
          </a:p>
        </p:txBody>
      </p:sp>
      <p:sp>
        <p:nvSpPr>
          <p:cNvPr id="53" name="TextBox 52">
            <a:extLst>
              <a:ext uri="{FF2B5EF4-FFF2-40B4-BE49-F238E27FC236}">
                <a16:creationId xmlns:a16="http://schemas.microsoft.com/office/drawing/2014/main" id="{EEA4E768-5AFC-A4B9-034C-C0FBAF5B172A}"/>
              </a:ext>
            </a:extLst>
          </p:cNvPr>
          <p:cNvSpPr txBox="1"/>
          <p:nvPr/>
        </p:nvSpPr>
        <p:spPr>
          <a:xfrm>
            <a:off x="5108762" y="4787402"/>
            <a:ext cx="5201796" cy="223138"/>
          </a:xfrm>
          <a:prstGeom prst="rect">
            <a:avLst/>
          </a:prstGeom>
          <a:noFill/>
        </p:spPr>
        <p:txBody>
          <a:bodyPr wrap="square">
            <a:spAutoFit/>
          </a:bodyPr>
          <a:lstStyle/>
          <a:p>
            <a:pPr algn="l"/>
            <a:r>
              <a:rPr sz="850" b="0" i="0">
                <a:solidFill>
                  <a:srgbClr val="E8F4FD"/>
                </a:solidFill>
              </a:rPr>
              <a:t>id · username · email · hashed_password · role · is_active · created_at</a:t>
            </a:r>
          </a:p>
        </p:txBody>
      </p:sp>
      <p:sp>
        <p:nvSpPr>
          <p:cNvPr id="54" name="TextBox 53">
            <a:extLst>
              <a:ext uri="{FF2B5EF4-FFF2-40B4-BE49-F238E27FC236}">
                <a16:creationId xmlns:a16="http://schemas.microsoft.com/office/drawing/2014/main" id="{822D280E-3279-2D4F-7D45-F728B8A842EE}"/>
              </a:ext>
            </a:extLst>
          </p:cNvPr>
          <p:cNvSpPr txBox="1"/>
          <p:nvPr/>
        </p:nvSpPr>
        <p:spPr>
          <a:xfrm>
            <a:off x="3429000" y="5674370"/>
            <a:ext cx="1415195" cy="230832"/>
          </a:xfrm>
          <a:prstGeom prst="rect">
            <a:avLst/>
          </a:prstGeom>
          <a:noFill/>
        </p:spPr>
        <p:txBody>
          <a:bodyPr wrap="square">
            <a:spAutoFit/>
          </a:bodyPr>
          <a:lstStyle/>
          <a:p>
            <a:pPr algn="l"/>
            <a:r>
              <a:rPr sz="900" b="1" i="0">
                <a:solidFill>
                  <a:srgbClr val="FFB705"/>
                </a:solidFill>
              </a:rPr>
              <a:t>energy_costs</a:t>
            </a:r>
          </a:p>
        </p:txBody>
      </p:sp>
      <p:sp>
        <p:nvSpPr>
          <p:cNvPr id="55" name="TextBox 54">
            <a:extLst>
              <a:ext uri="{FF2B5EF4-FFF2-40B4-BE49-F238E27FC236}">
                <a16:creationId xmlns:a16="http://schemas.microsoft.com/office/drawing/2014/main" id="{8C43A8E4-6EB5-DCD3-239E-5EEA54475DCF}"/>
              </a:ext>
            </a:extLst>
          </p:cNvPr>
          <p:cNvSpPr txBox="1"/>
          <p:nvPr/>
        </p:nvSpPr>
        <p:spPr>
          <a:xfrm>
            <a:off x="5166360" y="5674370"/>
            <a:ext cx="5201796" cy="223138"/>
          </a:xfrm>
          <a:prstGeom prst="rect">
            <a:avLst/>
          </a:prstGeom>
          <a:noFill/>
        </p:spPr>
        <p:txBody>
          <a:bodyPr wrap="square">
            <a:spAutoFit/>
          </a:bodyPr>
          <a:lstStyle/>
          <a:p>
            <a:pPr algn="l"/>
            <a:r>
              <a:rPr sz="850" b="0" i="0">
                <a:solidFill>
                  <a:srgbClr val="E8F4FD"/>
                </a:solidFill>
              </a:rPr>
              <a:t>id · reading_id · cost_inr · tariff_rate · calculated_at</a:t>
            </a:r>
          </a:p>
        </p:txBody>
      </p:sp>
      <p:sp>
        <p:nvSpPr>
          <p:cNvPr id="56" name="Rounded Rectangle 65">
            <a:extLst>
              <a:ext uri="{FF2B5EF4-FFF2-40B4-BE49-F238E27FC236}">
                <a16:creationId xmlns:a16="http://schemas.microsoft.com/office/drawing/2014/main" id="{A1EAA911-E9C0-0A9F-F3D5-4094AFDE427B}"/>
              </a:ext>
            </a:extLst>
          </p:cNvPr>
          <p:cNvSpPr/>
          <p:nvPr/>
        </p:nvSpPr>
        <p:spPr>
          <a:xfrm>
            <a:off x="0" y="5788461"/>
            <a:ext cx="1835928" cy="703779"/>
          </a:xfrm>
          <a:prstGeom prst="roundRect">
            <a:avLst>
              <a:gd name="adj" fmla="val 5000"/>
            </a:avLst>
          </a:prstGeom>
          <a:solidFill>
            <a:srgbClr val="162C4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9CC3D913-2EF1-0180-5825-50FB725E5D68}"/>
              </a:ext>
            </a:extLst>
          </p:cNvPr>
          <p:cNvSpPr txBox="1"/>
          <p:nvPr/>
        </p:nvSpPr>
        <p:spPr>
          <a:xfrm>
            <a:off x="91440" y="5832727"/>
            <a:ext cx="535479" cy="461665"/>
          </a:xfrm>
          <a:prstGeom prst="rect">
            <a:avLst/>
          </a:prstGeom>
          <a:noFill/>
        </p:spPr>
        <p:txBody>
          <a:bodyPr wrap="square">
            <a:spAutoFit/>
          </a:bodyPr>
          <a:lstStyle/>
          <a:p>
            <a:pPr algn="l"/>
            <a:r>
              <a:rPr sz="2400" b="1" i="0">
                <a:solidFill>
                  <a:srgbClr val="00D4FF"/>
                </a:solidFill>
              </a:rPr>
              <a:t>17</a:t>
            </a:r>
          </a:p>
        </p:txBody>
      </p:sp>
      <p:sp>
        <p:nvSpPr>
          <p:cNvPr id="58" name="TextBox 57">
            <a:extLst>
              <a:ext uri="{FF2B5EF4-FFF2-40B4-BE49-F238E27FC236}">
                <a16:creationId xmlns:a16="http://schemas.microsoft.com/office/drawing/2014/main" id="{AAFCAA90-6C3B-63E4-D231-726EF30D143E}"/>
              </a:ext>
            </a:extLst>
          </p:cNvPr>
          <p:cNvSpPr txBox="1"/>
          <p:nvPr/>
        </p:nvSpPr>
        <p:spPr>
          <a:xfrm>
            <a:off x="685800" y="5913568"/>
            <a:ext cx="1185704" cy="246221"/>
          </a:xfrm>
          <a:prstGeom prst="rect">
            <a:avLst/>
          </a:prstGeom>
          <a:noFill/>
        </p:spPr>
        <p:txBody>
          <a:bodyPr wrap="square">
            <a:spAutoFit/>
          </a:bodyPr>
          <a:lstStyle/>
          <a:p>
            <a:pPr algn="l"/>
            <a:r>
              <a:rPr sz="1000" b="0" i="0">
                <a:solidFill>
                  <a:srgbClr val="FFFFFF"/>
                </a:solidFill>
              </a:rPr>
              <a:t>Total Tables</a:t>
            </a:r>
          </a:p>
        </p:txBody>
      </p:sp>
      <p:sp>
        <p:nvSpPr>
          <p:cNvPr id="59" name="Rounded Rectangle 68">
            <a:extLst>
              <a:ext uri="{FF2B5EF4-FFF2-40B4-BE49-F238E27FC236}">
                <a16:creationId xmlns:a16="http://schemas.microsoft.com/office/drawing/2014/main" id="{79E9CC29-DDD7-E90F-316E-48467E39753B}"/>
              </a:ext>
            </a:extLst>
          </p:cNvPr>
          <p:cNvSpPr/>
          <p:nvPr/>
        </p:nvSpPr>
        <p:spPr>
          <a:xfrm>
            <a:off x="2377440" y="5788461"/>
            <a:ext cx="1835928" cy="703779"/>
          </a:xfrm>
          <a:prstGeom prst="roundRect">
            <a:avLst>
              <a:gd name="adj" fmla="val 5000"/>
            </a:avLst>
          </a:prstGeom>
          <a:solidFill>
            <a:srgbClr val="162C4A"/>
          </a:solidFill>
          <a:ln w="12700">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58305821-54F7-BA81-8541-EF6047CB3BC2}"/>
              </a:ext>
            </a:extLst>
          </p:cNvPr>
          <p:cNvSpPr txBox="1"/>
          <p:nvPr/>
        </p:nvSpPr>
        <p:spPr>
          <a:xfrm>
            <a:off x="2468880" y="5832727"/>
            <a:ext cx="535479" cy="461665"/>
          </a:xfrm>
          <a:prstGeom prst="rect">
            <a:avLst/>
          </a:prstGeom>
          <a:noFill/>
        </p:spPr>
        <p:txBody>
          <a:bodyPr wrap="square">
            <a:spAutoFit/>
          </a:bodyPr>
          <a:lstStyle/>
          <a:p>
            <a:pPr algn="l"/>
            <a:r>
              <a:rPr sz="2400" b="1" i="0">
                <a:solidFill>
                  <a:srgbClr val="FFB705"/>
                </a:solidFill>
              </a:rPr>
              <a:t>6</a:t>
            </a:r>
          </a:p>
        </p:txBody>
      </p:sp>
      <p:sp>
        <p:nvSpPr>
          <p:cNvPr id="61" name="TextBox 60">
            <a:extLst>
              <a:ext uri="{FF2B5EF4-FFF2-40B4-BE49-F238E27FC236}">
                <a16:creationId xmlns:a16="http://schemas.microsoft.com/office/drawing/2014/main" id="{AF9974E1-427E-6D97-5C3D-015DD546494E}"/>
              </a:ext>
            </a:extLst>
          </p:cNvPr>
          <p:cNvSpPr txBox="1"/>
          <p:nvPr/>
        </p:nvSpPr>
        <p:spPr>
          <a:xfrm>
            <a:off x="3063240" y="5913568"/>
            <a:ext cx="1185704" cy="246221"/>
          </a:xfrm>
          <a:prstGeom prst="rect">
            <a:avLst/>
          </a:prstGeom>
          <a:noFill/>
        </p:spPr>
        <p:txBody>
          <a:bodyPr wrap="square">
            <a:spAutoFit/>
          </a:bodyPr>
          <a:lstStyle/>
          <a:p>
            <a:pPr algn="l"/>
            <a:r>
              <a:rPr sz="1000" b="0" i="0">
                <a:solidFill>
                  <a:srgbClr val="FFFFFF"/>
                </a:solidFill>
              </a:rPr>
              <a:t>Asset Tables</a:t>
            </a:r>
          </a:p>
        </p:txBody>
      </p:sp>
      <p:sp>
        <p:nvSpPr>
          <p:cNvPr id="62" name="Rounded Rectangle 71">
            <a:extLst>
              <a:ext uri="{FF2B5EF4-FFF2-40B4-BE49-F238E27FC236}">
                <a16:creationId xmlns:a16="http://schemas.microsoft.com/office/drawing/2014/main" id="{5D5C9C3E-4BCE-E6C5-8B6D-7F520608FEE3}"/>
              </a:ext>
            </a:extLst>
          </p:cNvPr>
          <p:cNvSpPr/>
          <p:nvPr/>
        </p:nvSpPr>
        <p:spPr>
          <a:xfrm>
            <a:off x="4754880" y="5788461"/>
            <a:ext cx="1835928" cy="703779"/>
          </a:xfrm>
          <a:prstGeom prst="roundRect">
            <a:avLst>
              <a:gd name="adj" fmla="val 5000"/>
            </a:avLst>
          </a:prstGeom>
          <a:solidFill>
            <a:srgbClr val="162C4A"/>
          </a:solidFill>
          <a:ln w="12700">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14C64368-23C5-177D-1EDB-B17ACCF60CD9}"/>
              </a:ext>
            </a:extLst>
          </p:cNvPr>
          <p:cNvSpPr txBox="1"/>
          <p:nvPr/>
        </p:nvSpPr>
        <p:spPr>
          <a:xfrm>
            <a:off x="4846320" y="5832727"/>
            <a:ext cx="535479" cy="461665"/>
          </a:xfrm>
          <a:prstGeom prst="rect">
            <a:avLst/>
          </a:prstGeom>
          <a:noFill/>
        </p:spPr>
        <p:txBody>
          <a:bodyPr wrap="square">
            <a:spAutoFit/>
          </a:bodyPr>
          <a:lstStyle/>
          <a:p>
            <a:pPr algn="l"/>
            <a:r>
              <a:rPr sz="2400" b="1" i="0">
                <a:solidFill>
                  <a:srgbClr val="06D67E"/>
                </a:solidFill>
              </a:rPr>
              <a:t>5</a:t>
            </a:r>
          </a:p>
        </p:txBody>
      </p:sp>
      <p:sp>
        <p:nvSpPr>
          <p:cNvPr id="64" name="TextBox 63">
            <a:extLst>
              <a:ext uri="{FF2B5EF4-FFF2-40B4-BE49-F238E27FC236}">
                <a16:creationId xmlns:a16="http://schemas.microsoft.com/office/drawing/2014/main" id="{4F860CA9-998C-3C82-2583-772EFA92BE89}"/>
              </a:ext>
            </a:extLst>
          </p:cNvPr>
          <p:cNvSpPr txBox="1"/>
          <p:nvPr/>
        </p:nvSpPr>
        <p:spPr>
          <a:xfrm>
            <a:off x="5440680" y="5913568"/>
            <a:ext cx="1185704" cy="246221"/>
          </a:xfrm>
          <a:prstGeom prst="rect">
            <a:avLst/>
          </a:prstGeom>
          <a:noFill/>
        </p:spPr>
        <p:txBody>
          <a:bodyPr wrap="square">
            <a:spAutoFit/>
          </a:bodyPr>
          <a:lstStyle/>
          <a:p>
            <a:pPr algn="l"/>
            <a:r>
              <a:rPr sz="1000" b="0" i="0">
                <a:solidFill>
                  <a:srgbClr val="FFFFFF"/>
                </a:solidFill>
              </a:rPr>
              <a:t>Energy Tables</a:t>
            </a:r>
          </a:p>
        </p:txBody>
      </p:sp>
      <p:sp>
        <p:nvSpPr>
          <p:cNvPr id="65" name="Rounded Rectangle 74">
            <a:extLst>
              <a:ext uri="{FF2B5EF4-FFF2-40B4-BE49-F238E27FC236}">
                <a16:creationId xmlns:a16="http://schemas.microsoft.com/office/drawing/2014/main" id="{D98CAB31-4E39-1310-4340-6B19A839DEE3}"/>
              </a:ext>
            </a:extLst>
          </p:cNvPr>
          <p:cNvSpPr/>
          <p:nvPr/>
        </p:nvSpPr>
        <p:spPr>
          <a:xfrm>
            <a:off x="7132320" y="5788461"/>
            <a:ext cx="1835928" cy="703779"/>
          </a:xfrm>
          <a:prstGeom prst="roundRect">
            <a:avLst>
              <a:gd name="adj" fmla="val 5000"/>
            </a:avLst>
          </a:prstGeom>
          <a:solidFill>
            <a:srgbClr val="162C4A"/>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a:extLst>
              <a:ext uri="{FF2B5EF4-FFF2-40B4-BE49-F238E27FC236}">
                <a16:creationId xmlns:a16="http://schemas.microsoft.com/office/drawing/2014/main" id="{D34CAAA0-9B71-13DC-2BBF-AD0232CAEB4D}"/>
              </a:ext>
            </a:extLst>
          </p:cNvPr>
          <p:cNvSpPr txBox="1"/>
          <p:nvPr/>
        </p:nvSpPr>
        <p:spPr>
          <a:xfrm>
            <a:off x="7223760" y="5832727"/>
            <a:ext cx="535479" cy="461665"/>
          </a:xfrm>
          <a:prstGeom prst="rect">
            <a:avLst/>
          </a:prstGeom>
          <a:noFill/>
        </p:spPr>
        <p:txBody>
          <a:bodyPr wrap="square">
            <a:spAutoFit/>
          </a:bodyPr>
          <a:lstStyle/>
          <a:p>
            <a:pPr algn="l"/>
            <a:r>
              <a:rPr sz="2400" b="1" i="0">
                <a:solidFill>
                  <a:srgbClr val="7C3AED"/>
                </a:solidFill>
              </a:rPr>
              <a:t>4</a:t>
            </a:r>
          </a:p>
        </p:txBody>
      </p:sp>
      <p:sp>
        <p:nvSpPr>
          <p:cNvPr id="67" name="TextBox 66">
            <a:extLst>
              <a:ext uri="{FF2B5EF4-FFF2-40B4-BE49-F238E27FC236}">
                <a16:creationId xmlns:a16="http://schemas.microsoft.com/office/drawing/2014/main" id="{28AE1123-DE42-4B0F-06B5-DED26A557692}"/>
              </a:ext>
            </a:extLst>
          </p:cNvPr>
          <p:cNvSpPr txBox="1"/>
          <p:nvPr/>
        </p:nvSpPr>
        <p:spPr>
          <a:xfrm>
            <a:off x="7818120" y="5913568"/>
            <a:ext cx="1185704" cy="246221"/>
          </a:xfrm>
          <a:prstGeom prst="rect">
            <a:avLst/>
          </a:prstGeom>
          <a:noFill/>
        </p:spPr>
        <p:txBody>
          <a:bodyPr wrap="square">
            <a:spAutoFit/>
          </a:bodyPr>
          <a:lstStyle/>
          <a:p>
            <a:pPr algn="l"/>
            <a:r>
              <a:rPr sz="1000" b="0" i="0">
                <a:solidFill>
                  <a:srgbClr val="FFFFFF"/>
                </a:solidFill>
              </a:rPr>
              <a:t>Analytics Tables</a:t>
            </a:r>
          </a:p>
        </p:txBody>
      </p:sp>
      <p:sp>
        <p:nvSpPr>
          <p:cNvPr id="68" name="Rounded Rectangle 77">
            <a:extLst>
              <a:ext uri="{FF2B5EF4-FFF2-40B4-BE49-F238E27FC236}">
                <a16:creationId xmlns:a16="http://schemas.microsoft.com/office/drawing/2014/main" id="{F0C9F614-CDF0-C45D-A10B-2B00A80DF8C6}"/>
              </a:ext>
            </a:extLst>
          </p:cNvPr>
          <p:cNvSpPr/>
          <p:nvPr/>
        </p:nvSpPr>
        <p:spPr>
          <a:xfrm>
            <a:off x="9509760" y="5788461"/>
            <a:ext cx="1835928" cy="703779"/>
          </a:xfrm>
          <a:prstGeom prst="roundRect">
            <a:avLst>
              <a:gd name="adj" fmla="val 5000"/>
            </a:avLst>
          </a:prstGeom>
          <a:solidFill>
            <a:srgbClr val="162C4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a:extLst>
              <a:ext uri="{FF2B5EF4-FFF2-40B4-BE49-F238E27FC236}">
                <a16:creationId xmlns:a16="http://schemas.microsoft.com/office/drawing/2014/main" id="{20A93C16-14EB-5306-4D4C-D6A35F003955}"/>
              </a:ext>
            </a:extLst>
          </p:cNvPr>
          <p:cNvSpPr txBox="1"/>
          <p:nvPr/>
        </p:nvSpPr>
        <p:spPr>
          <a:xfrm>
            <a:off x="9601200" y="5832727"/>
            <a:ext cx="535479" cy="461665"/>
          </a:xfrm>
          <a:prstGeom prst="rect">
            <a:avLst/>
          </a:prstGeom>
          <a:noFill/>
        </p:spPr>
        <p:txBody>
          <a:bodyPr wrap="square">
            <a:spAutoFit/>
          </a:bodyPr>
          <a:lstStyle/>
          <a:p>
            <a:pPr algn="l"/>
            <a:r>
              <a:rPr sz="2400" b="1" i="0">
                <a:solidFill>
                  <a:srgbClr val="00B4D8"/>
                </a:solidFill>
              </a:rPr>
              <a:t>1</a:t>
            </a:r>
          </a:p>
        </p:txBody>
      </p:sp>
      <p:sp>
        <p:nvSpPr>
          <p:cNvPr id="70" name="TextBox 69">
            <a:extLst>
              <a:ext uri="{FF2B5EF4-FFF2-40B4-BE49-F238E27FC236}">
                <a16:creationId xmlns:a16="http://schemas.microsoft.com/office/drawing/2014/main" id="{64A3188C-FC26-A650-0999-F277EDB58746}"/>
              </a:ext>
            </a:extLst>
          </p:cNvPr>
          <p:cNvSpPr txBox="1"/>
          <p:nvPr/>
        </p:nvSpPr>
        <p:spPr>
          <a:xfrm>
            <a:off x="10159984" y="5938447"/>
            <a:ext cx="1185704" cy="246221"/>
          </a:xfrm>
          <a:prstGeom prst="rect">
            <a:avLst/>
          </a:prstGeom>
          <a:noFill/>
        </p:spPr>
        <p:txBody>
          <a:bodyPr wrap="square">
            <a:spAutoFit/>
          </a:bodyPr>
          <a:lstStyle/>
          <a:p>
            <a:pPr algn="l"/>
            <a:r>
              <a:rPr sz="1000" b="0" i="0">
                <a:solidFill>
                  <a:srgbClr val="FFFFFF"/>
                </a:solidFill>
              </a:rPr>
              <a:t>Auth Table</a:t>
            </a:r>
          </a:p>
        </p:txBody>
      </p:sp>
    </p:spTree>
    <p:extLst>
      <p:ext uri="{BB962C8B-B14F-4D97-AF65-F5344CB8AC3E}">
        <p14:creationId xmlns:p14="http://schemas.microsoft.com/office/powerpoint/2010/main" val="384923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F216E-61B4-ECA9-4507-FD4D8CE85B62}"/>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Data Flow Architecture </a:t>
            </a:r>
          </a:p>
        </p:txBody>
      </p:sp>
      <p:sp>
        <p:nvSpPr>
          <p:cNvPr id="3" name="Text Placeholder 2">
            <a:extLst>
              <a:ext uri="{FF2B5EF4-FFF2-40B4-BE49-F238E27FC236}">
                <a16:creationId xmlns:a16="http://schemas.microsoft.com/office/drawing/2014/main" id="{55435FAF-213F-A0D4-2440-CBCFB862AEEB}"/>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5EEAD0B4-F400-CE8B-6BE5-F1BD980487E0}"/>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19AFBA1E-BEEE-3457-A512-ECB6333EE3F7}"/>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EB9C2D0C-96F1-95C2-6252-B665F49D81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8" name="Picture 7">
            <a:extLst>
              <a:ext uri="{FF2B5EF4-FFF2-40B4-BE49-F238E27FC236}">
                <a16:creationId xmlns:a16="http://schemas.microsoft.com/office/drawing/2014/main" id="{A81610B2-53C2-7F79-D2B4-F7AB45D88F1E}"/>
              </a:ext>
            </a:extLst>
          </p:cNvPr>
          <p:cNvPicPr>
            <a:picLocks noChangeAspect="1"/>
          </p:cNvPicPr>
          <p:nvPr/>
        </p:nvPicPr>
        <p:blipFill>
          <a:blip r:embed="rId2"/>
          <a:stretch>
            <a:fillRect/>
          </a:stretch>
        </p:blipFill>
        <p:spPr>
          <a:xfrm>
            <a:off x="160256" y="1527142"/>
            <a:ext cx="8682086" cy="4599021"/>
          </a:xfrm>
          <a:prstGeom prst="rect">
            <a:avLst/>
          </a:prstGeom>
        </p:spPr>
      </p:pic>
    </p:spTree>
    <p:extLst>
      <p:ext uri="{BB962C8B-B14F-4D97-AF65-F5344CB8AC3E}">
        <p14:creationId xmlns:p14="http://schemas.microsoft.com/office/powerpoint/2010/main" val="2366090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E2DF7-3FC5-430F-FBEA-0E0A22573742}"/>
              </a:ext>
            </a:extLst>
          </p:cNvPr>
          <p:cNvSpPr>
            <a:spLocks noGrp="1"/>
          </p:cNvSpPr>
          <p:nvPr>
            <p:ph type="title"/>
          </p:nvPr>
        </p:nvSpPr>
        <p:spPr>
          <a:xfrm>
            <a:off x="680525" y="136525"/>
            <a:ext cx="8229600" cy="1143000"/>
          </a:xfrm>
        </p:spPr>
        <p:txBody>
          <a:bodyPr>
            <a:normAutofit/>
          </a:bodyPr>
          <a:lstStyle/>
          <a:p>
            <a:r>
              <a:rPr lang="en-IN" sz="2800" b="1" dirty="0">
                <a:latin typeface="Times New Roman" panose="02020603050405020304" pitchFamily="18" charset="0"/>
                <a:cs typeface="Times New Roman" panose="02020603050405020304" pitchFamily="18" charset="0"/>
              </a:rPr>
              <a:t>Functional Requirements</a:t>
            </a:r>
          </a:p>
        </p:txBody>
      </p:sp>
      <p:sp>
        <p:nvSpPr>
          <p:cNvPr id="3" name="Text Placeholder 2">
            <a:extLst>
              <a:ext uri="{FF2B5EF4-FFF2-40B4-BE49-F238E27FC236}">
                <a16:creationId xmlns:a16="http://schemas.microsoft.com/office/drawing/2014/main" id="{5E429AEB-82F2-9934-5384-65E4A490949F}"/>
              </a:ext>
            </a:extLst>
          </p:cNvPr>
          <p:cNvSpPr>
            <a:spLocks noGrp="1"/>
          </p:cNvSpPr>
          <p:nvPr>
            <p:ph type="body" idx="1"/>
          </p:nvPr>
        </p:nvSpPr>
        <p:spPr/>
        <p:txBody>
          <a:bodyPr/>
          <a:lstStyle/>
          <a:p>
            <a:pPr marL="114300" indent="0">
              <a:buNone/>
            </a:pPr>
            <a:r>
              <a:rPr lang="en-IN" sz="1800" b="1" dirty="0">
                <a:latin typeface="Times New Roman" panose="02020603050405020304" pitchFamily="18" charset="0"/>
                <a:cs typeface="Times New Roman" panose="02020603050405020304" pitchFamily="18" charset="0"/>
              </a:rPr>
              <a:t>Functional Test Cases</a:t>
            </a:r>
          </a:p>
          <a:p>
            <a:pPr marL="114300" indent="0">
              <a:buNone/>
            </a:pPr>
            <a:endParaRPr lang="en-IN" sz="1400" dirty="0"/>
          </a:p>
          <a:p>
            <a:pPr marL="114300" indent="0">
              <a:buNone/>
            </a:pPr>
            <a:endParaRPr lang="en-IN" dirty="0"/>
          </a:p>
        </p:txBody>
      </p:sp>
      <p:sp>
        <p:nvSpPr>
          <p:cNvPr id="4" name="Date Placeholder 3">
            <a:extLst>
              <a:ext uri="{FF2B5EF4-FFF2-40B4-BE49-F238E27FC236}">
                <a16:creationId xmlns:a16="http://schemas.microsoft.com/office/drawing/2014/main" id="{C9DAD936-521F-E9DA-D3A7-59AC59EACD9E}"/>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0A48D819-DA3B-4376-C9A6-149E976C9A9E}"/>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839A5662-3B09-8693-9CC3-A7A18F7F07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7" name="Google Shape;98;p2">
            <a:extLst>
              <a:ext uri="{FF2B5EF4-FFF2-40B4-BE49-F238E27FC236}">
                <a16:creationId xmlns:a16="http://schemas.microsoft.com/office/drawing/2014/main" id="{5DB12BE2-BE05-2D1E-62AC-F0DB31D62DA4}"/>
              </a:ext>
            </a:extLst>
          </p:cNvPr>
          <p:cNvPicPr preferRelativeResize="0"/>
          <p:nvPr/>
        </p:nvPicPr>
        <p:blipFill rotWithShape="1">
          <a:blip r:embed="rId2">
            <a:alphaModFix/>
          </a:blip>
          <a:srcRect/>
          <a:stretch/>
        </p:blipFill>
        <p:spPr>
          <a:xfrm>
            <a:off x="213360" y="396543"/>
            <a:ext cx="2133600" cy="757459"/>
          </a:xfrm>
          <a:prstGeom prst="rect">
            <a:avLst/>
          </a:prstGeom>
          <a:noFill/>
          <a:ln>
            <a:noFill/>
          </a:ln>
        </p:spPr>
      </p:pic>
      <p:graphicFrame>
        <p:nvGraphicFramePr>
          <p:cNvPr id="13" name="Table 12">
            <a:extLst>
              <a:ext uri="{FF2B5EF4-FFF2-40B4-BE49-F238E27FC236}">
                <a16:creationId xmlns:a16="http://schemas.microsoft.com/office/drawing/2014/main" id="{71E69AB4-D784-2F72-D48F-35F6264B1F5F}"/>
              </a:ext>
            </a:extLst>
          </p:cNvPr>
          <p:cNvGraphicFramePr>
            <a:graphicFrameLocks noGrp="1"/>
          </p:cNvGraphicFramePr>
          <p:nvPr>
            <p:extLst>
              <p:ext uri="{D42A27DB-BD31-4B8C-83A1-F6EECF244321}">
                <p14:modId xmlns:p14="http://schemas.microsoft.com/office/powerpoint/2010/main" val="2930514628"/>
              </p:ext>
            </p:extLst>
          </p:nvPr>
        </p:nvGraphicFramePr>
        <p:xfrm>
          <a:off x="680525" y="2266736"/>
          <a:ext cx="8229600" cy="3352800"/>
        </p:xfrm>
        <a:graphic>
          <a:graphicData uri="http://schemas.openxmlformats.org/drawingml/2006/table">
            <a:tbl>
              <a:tblPr/>
              <a:tblGrid>
                <a:gridCol w="2743200">
                  <a:extLst>
                    <a:ext uri="{9D8B030D-6E8A-4147-A177-3AD203B41FA5}">
                      <a16:colId xmlns:a16="http://schemas.microsoft.com/office/drawing/2014/main" val="3207583998"/>
                    </a:ext>
                  </a:extLst>
                </a:gridCol>
                <a:gridCol w="2743200">
                  <a:extLst>
                    <a:ext uri="{9D8B030D-6E8A-4147-A177-3AD203B41FA5}">
                      <a16:colId xmlns:a16="http://schemas.microsoft.com/office/drawing/2014/main" val="1651878995"/>
                    </a:ext>
                  </a:extLst>
                </a:gridCol>
                <a:gridCol w="2743200">
                  <a:extLst>
                    <a:ext uri="{9D8B030D-6E8A-4147-A177-3AD203B41FA5}">
                      <a16:colId xmlns:a16="http://schemas.microsoft.com/office/drawing/2014/main" val="509806509"/>
                    </a:ext>
                  </a:extLst>
                </a:gridCol>
              </a:tblGrid>
              <a:tr h="0">
                <a:tc>
                  <a:txBody>
                    <a:bodyPr/>
                    <a:lstStyle/>
                    <a:p>
                      <a:r>
                        <a:rPr lang="en-IN">
                          <a:latin typeface="Times New Roman" panose="02020603050405020304" pitchFamily="18" charset="0"/>
                          <a:cs typeface="Times New Roman" panose="02020603050405020304" pitchFamily="18" charset="0"/>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Test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991589"/>
                  </a:ext>
                </a:extLst>
              </a:tr>
              <a:tr h="0">
                <a:tc>
                  <a:txBody>
                    <a:bodyPr/>
                    <a:lstStyle/>
                    <a:p>
                      <a:r>
                        <a:rPr lang="en-IN">
                          <a:latin typeface="Times New Roman" panose="02020603050405020304" pitchFamily="18" charset="0"/>
                          <a:cs typeface="Times New Roman" panose="02020603050405020304" pitchFamily="18" charset="0"/>
                        </a:rPr>
                        <a:t>TC-01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Times New Roman" panose="02020603050405020304" pitchFamily="18" charset="0"/>
                          <a:cs typeface="Times New Roman" panose="02020603050405020304" pitchFamily="18" charset="0"/>
                        </a:rPr>
                        <a:t>Successful login and JWT issuance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5450158"/>
                  </a:ext>
                </a:extLst>
              </a:tr>
              <a:tr h="0">
                <a:tc>
                  <a:txBody>
                    <a:bodyPr/>
                    <a:lstStyle/>
                    <a:p>
                      <a:r>
                        <a:rPr lang="en-IN" dirty="0">
                          <a:latin typeface="Times New Roman" panose="02020603050405020304" pitchFamily="18" charset="0"/>
                          <a:cs typeface="Times New Roman" panose="02020603050405020304" pitchFamily="18" charset="0"/>
                        </a:rPr>
                        <a:t>TC-02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Invalid login credentials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7824445"/>
                  </a:ext>
                </a:extLst>
              </a:tr>
              <a:tr h="0">
                <a:tc>
                  <a:txBody>
                    <a:bodyPr/>
                    <a:lstStyle/>
                    <a:p>
                      <a:r>
                        <a:rPr lang="en-IN" dirty="0">
                          <a:latin typeface="Times New Roman" panose="02020603050405020304" pitchFamily="18" charset="0"/>
                          <a:cs typeface="Times New Roman" panose="02020603050405020304" pitchFamily="18" charset="0"/>
                        </a:rPr>
                        <a:t>TC-03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Role-based tab visibility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7599124"/>
                  </a:ext>
                </a:extLst>
              </a:tr>
              <a:tr h="0">
                <a:tc>
                  <a:txBody>
                    <a:bodyPr/>
                    <a:lstStyle/>
                    <a:p>
                      <a:r>
                        <a:rPr lang="en-IN">
                          <a:latin typeface="Times New Roman" panose="02020603050405020304" pitchFamily="18" charset="0"/>
                          <a:cs typeface="Times New Roman" panose="02020603050405020304" pitchFamily="18" charset="0"/>
                        </a:rPr>
                        <a:t>TC-04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Route protection without token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5924494"/>
                  </a:ext>
                </a:extLst>
              </a:tr>
              <a:tr h="0">
                <a:tc>
                  <a:txBody>
                    <a:bodyPr/>
                    <a:lstStyle/>
                    <a:p>
                      <a:r>
                        <a:rPr lang="en-IN">
                          <a:latin typeface="Times New Roman" panose="02020603050405020304" pitchFamily="18" charset="0"/>
                          <a:cs typeface="Times New Roman" panose="02020603050405020304" pitchFamily="18" charset="0"/>
                        </a:rPr>
                        <a:t>TC-05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Anomaly source attribution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4283793"/>
                  </a:ext>
                </a:extLst>
              </a:tr>
              <a:tr h="0">
                <a:tc>
                  <a:txBody>
                    <a:bodyPr/>
                    <a:lstStyle/>
                    <a:p>
                      <a:r>
                        <a:rPr lang="en-IN">
                          <a:latin typeface="Times New Roman" panose="02020603050405020304" pitchFamily="18" charset="0"/>
                          <a:cs typeface="Times New Roman" panose="02020603050405020304" pitchFamily="18" charset="0"/>
                        </a:rPr>
                        <a:t>TC-06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Filter shortcut functionality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0178140"/>
                  </a:ext>
                </a:extLst>
              </a:tr>
              <a:tr h="0">
                <a:tc>
                  <a:txBody>
                    <a:bodyPr/>
                    <a:lstStyle/>
                    <a:p>
                      <a:r>
                        <a:rPr lang="en-IN">
                          <a:latin typeface="Times New Roman" panose="02020603050405020304" pitchFamily="18" charset="0"/>
                          <a:cs typeface="Times New Roman" panose="02020603050405020304" pitchFamily="18" charset="0"/>
                        </a:rPr>
                        <a:t>TC-07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Dual anomaly KPI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9806538"/>
                  </a:ext>
                </a:extLst>
              </a:tr>
              <a:tr h="0">
                <a:tc>
                  <a:txBody>
                    <a:bodyPr/>
                    <a:lstStyle/>
                    <a:p>
                      <a:r>
                        <a:rPr lang="en-IN">
                          <a:latin typeface="Times New Roman" panose="02020603050405020304" pitchFamily="18" charset="0"/>
                          <a:cs typeface="Times New Roman" panose="02020603050405020304" pitchFamily="18" charset="0"/>
                        </a:rPr>
                        <a:t>TC-08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Times New Roman" panose="02020603050405020304" pitchFamily="18" charset="0"/>
                          <a:cs typeface="Times New Roman" panose="02020603050405020304" pitchFamily="18" charset="0"/>
                        </a:rPr>
                        <a:t>Cost calculation using INR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6074359"/>
                  </a:ext>
                </a:extLst>
              </a:tr>
              <a:tr h="0">
                <a:tc>
                  <a:txBody>
                    <a:bodyPr/>
                    <a:lstStyle/>
                    <a:p>
                      <a:r>
                        <a:rPr lang="en-IN">
                          <a:latin typeface="Times New Roman" panose="02020603050405020304" pitchFamily="18" charset="0"/>
                          <a:cs typeface="Times New Roman" panose="02020603050405020304" pitchFamily="18" charset="0"/>
                        </a:rPr>
                        <a:t>TC-09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latin typeface="Times New Roman" panose="02020603050405020304" pitchFamily="18" charset="0"/>
                          <a:cs typeface="Times New Roman" panose="02020603050405020304" pitchFamily="18" charset="0"/>
                        </a:rPr>
                        <a:t>Profile update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333574"/>
                  </a:ext>
                </a:extLst>
              </a:tr>
              <a:tr h="0">
                <a:tc>
                  <a:txBody>
                    <a:bodyPr/>
                    <a:lstStyle/>
                    <a:p>
                      <a:r>
                        <a:rPr lang="en-IN">
                          <a:latin typeface="Times New Roman" panose="02020603050405020304" pitchFamily="18" charset="0"/>
                          <a:cs typeface="Times New Roman" panose="02020603050405020304" pitchFamily="18" charset="0"/>
                        </a:rPr>
                        <a:t>TC-10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Password change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latin typeface="Times New Roman" panose="02020603050405020304" pitchFamily="18" charset="0"/>
                          <a:cs typeface="Times New Roman" panose="02020603050405020304" pitchFamily="18" charset="0"/>
                        </a:rPr>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947213"/>
                  </a:ext>
                </a:extLst>
              </a:tr>
            </a:tbl>
          </a:graphicData>
        </a:graphic>
      </p:graphicFrame>
    </p:spTree>
    <p:extLst>
      <p:ext uri="{BB962C8B-B14F-4D97-AF65-F5344CB8AC3E}">
        <p14:creationId xmlns:p14="http://schemas.microsoft.com/office/powerpoint/2010/main" val="3057015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750BE-F370-5A16-DC8C-423DA74E802D}"/>
              </a:ext>
            </a:extLst>
          </p:cNvPr>
          <p:cNvSpPr>
            <a:spLocks noGrp="1"/>
          </p:cNvSpPr>
          <p:nvPr>
            <p:ph type="title"/>
          </p:nvPr>
        </p:nvSpPr>
        <p:spPr>
          <a:xfrm>
            <a:off x="585724" y="319088"/>
            <a:ext cx="8229600" cy="1143000"/>
          </a:xfrm>
        </p:spPr>
        <p:txBody>
          <a:bodyPr>
            <a:noAutofit/>
          </a:bodyPr>
          <a:lstStyle/>
          <a:p>
            <a:r>
              <a:rPr lang="en-IN" sz="2800" b="1" dirty="0">
                <a:latin typeface="Times New Roman" panose="02020603050405020304" pitchFamily="18" charset="0"/>
                <a:cs typeface="Times New Roman" panose="02020603050405020304" pitchFamily="18" charset="0"/>
              </a:rPr>
              <a:t>  Functional Test Cases</a:t>
            </a:r>
            <a:br>
              <a:rPr lang="en-IN" sz="2800" b="1" dirty="0"/>
            </a:br>
            <a:endParaRPr lang="en-IN" sz="2800" dirty="0"/>
          </a:p>
        </p:txBody>
      </p:sp>
      <p:sp>
        <p:nvSpPr>
          <p:cNvPr id="3" name="Text Placeholder 2">
            <a:extLst>
              <a:ext uri="{FF2B5EF4-FFF2-40B4-BE49-F238E27FC236}">
                <a16:creationId xmlns:a16="http://schemas.microsoft.com/office/drawing/2014/main" id="{0E22EE25-D6D8-023E-3386-F325156868CA}"/>
              </a:ext>
            </a:extLst>
          </p:cNvPr>
          <p:cNvSpPr>
            <a:spLocks noGrp="1"/>
          </p:cNvSpPr>
          <p:nvPr>
            <p:ph type="body" idx="1"/>
          </p:nvPr>
        </p:nvSpPr>
        <p:spPr/>
        <p:txBody>
          <a:bodyPr>
            <a:normAutofit/>
          </a:bodyPr>
          <a:lstStyle/>
          <a:p>
            <a:r>
              <a:rPr lang="en-US" sz="1600" dirty="0">
                <a:latin typeface="Times New Roman" panose="02020603050405020304" pitchFamily="18" charset="0"/>
                <a:cs typeface="Times New Roman" panose="02020603050405020304" pitchFamily="18" charset="0"/>
              </a:rPr>
              <a:t>Functional testing was conducted to validate all Sprint 2 deliverables: JWT authentication with RBAC, residual Z-score anomaly detection with source attribution, carbon emission analytics, centralised INR cost utility, profile/password management, dashboard tab rendering, CSV ingestion pipeline, and forecasting module output.</a:t>
            </a:r>
          </a:p>
          <a:p>
            <a:r>
              <a:rPr lang="en-US" sz="1600" dirty="0">
                <a:latin typeface="Times New Roman" panose="02020603050405020304" pitchFamily="18" charset="0"/>
                <a:cs typeface="Times New Roman" panose="02020603050405020304" pitchFamily="18" charset="0"/>
              </a:rPr>
              <a:t>Testing results confirmed: correct JWT issuance and role enforcement; accurate anomaly Z-scores with source_device/zone/department metadata; consistent INR cost across all tabs; bcrypt password re-hashing; all 6 dashboard tabs rendering with correct data; and energy_events pipeline writing correctly through to daily aggregates.</a:t>
            </a:r>
          </a:p>
          <a:p>
            <a:pPr marL="114300" indent="0">
              <a:buNone/>
            </a:pPr>
            <a:endParaRPr lang="en-IN" dirty="0"/>
          </a:p>
        </p:txBody>
      </p:sp>
      <p:sp>
        <p:nvSpPr>
          <p:cNvPr id="4" name="Date Placeholder 3">
            <a:extLst>
              <a:ext uri="{FF2B5EF4-FFF2-40B4-BE49-F238E27FC236}">
                <a16:creationId xmlns:a16="http://schemas.microsoft.com/office/drawing/2014/main" id="{AECE0193-0A10-0C35-ACD5-B112483F860B}"/>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4359A1BD-3457-3BEA-47CD-6A257A75A501}"/>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025AD12E-2FB5-445E-253C-D4BA8A3046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7" name="Google Shape;98;p2">
            <a:extLst>
              <a:ext uri="{FF2B5EF4-FFF2-40B4-BE49-F238E27FC236}">
                <a16:creationId xmlns:a16="http://schemas.microsoft.com/office/drawing/2014/main" id="{801BF8C7-507D-C443-B3A7-793FF306CF2B}"/>
              </a:ext>
            </a:extLst>
          </p:cNvPr>
          <p:cNvPicPr preferRelativeResize="0"/>
          <p:nvPr/>
        </p:nvPicPr>
        <p:blipFill rotWithShape="1">
          <a:blip r:embed="rId2">
            <a:alphaModFix/>
          </a:blip>
          <a:srcRect/>
          <a:stretch/>
        </p:blipFill>
        <p:spPr>
          <a:xfrm>
            <a:off x="328676" y="467408"/>
            <a:ext cx="2133600" cy="757459"/>
          </a:xfrm>
          <a:prstGeom prst="rect">
            <a:avLst/>
          </a:prstGeom>
          <a:noFill/>
          <a:ln>
            <a:noFill/>
          </a:ln>
        </p:spPr>
      </p:pic>
      <p:pic>
        <p:nvPicPr>
          <p:cNvPr id="9" name="Picture 8">
            <a:extLst>
              <a:ext uri="{FF2B5EF4-FFF2-40B4-BE49-F238E27FC236}">
                <a16:creationId xmlns:a16="http://schemas.microsoft.com/office/drawing/2014/main" id="{339C3010-A01D-6862-6352-065B29A13129}"/>
              </a:ext>
            </a:extLst>
          </p:cNvPr>
          <p:cNvPicPr>
            <a:picLocks noChangeAspect="1"/>
          </p:cNvPicPr>
          <p:nvPr/>
        </p:nvPicPr>
        <p:blipFill>
          <a:blip r:embed="rId3"/>
          <a:stretch>
            <a:fillRect/>
          </a:stretch>
        </p:blipFill>
        <p:spPr>
          <a:xfrm>
            <a:off x="712274" y="3769484"/>
            <a:ext cx="7851531" cy="2769428"/>
          </a:xfrm>
          <a:prstGeom prst="rect">
            <a:avLst/>
          </a:prstGeom>
        </p:spPr>
      </p:pic>
    </p:spTree>
    <p:extLst>
      <p:ext uri="{BB962C8B-B14F-4D97-AF65-F5344CB8AC3E}">
        <p14:creationId xmlns:p14="http://schemas.microsoft.com/office/powerpoint/2010/main" val="3245655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6CD55-B396-0A5F-02C9-C5C6977A667B}"/>
              </a:ext>
            </a:extLst>
          </p:cNvPr>
          <p:cNvSpPr>
            <a:spLocks noGrp="1"/>
          </p:cNvSpPr>
          <p:nvPr>
            <p:ph type="title"/>
          </p:nvPr>
        </p:nvSpPr>
        <p:spPr>
          <a:xfrm>
            <a:off x="185453" y="193856"/>
            <a:ext cx="8229600" cy="1143000"/>
          </a:xfrm>
        </p:spPr>
        <p:txBody>
          <a:bodyPr/>
          <a:lstStyle/>
          <a:p>
            <a:r>
              <a:rPr lang="en-IN"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Sprint Retrospective </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5C537F6-B2F3-00DC-A525-1B6A97FE430C}"/>
              </a:ext>
            </a:extLst>
          </p:cNvPr>
          <p:cNvSpPr>
            <a:spLocks noGrp="1"/>
          </p:cNvSpPr>
          <p:nvPr>
            <p:ph type="body" idx="1"/>
          </p:nvPr>
        </p:nvSpPr>
        <p:spPr/>
        <p:txBody>
          <a:bodyPr>
            <a:normAutofit/>
          </a:bodyPr>
          <a:lstStyle/>
          <a:p>
            <a:pPr marL="114300" indent="0">
              <a:buNone/>
            </a:pPr>
            <a:r>
              <a:rPr lang="en-US" sz="1600" b="1" dirty="0">
                <a:latin typeface="Times New Roman" panose="02020603050405020304" pitchFamily="18" charset="0"/>
                <a:cs typeface="Times New Roman" panose="02020603050405020304" pitchFamily="18" charset="0"/>
              </a:rPr>
              <a:t>Sprint Retrospective – Sprint 2</a:t>
            </a:r>
          </a:p>
          <a:p>
            <a:r>
              <a:rPr lang="en-US" sz="1600" dirty="0">
                <a:latin typeface="Times New Roman" panose="02020603050405020304" pitchFamily="18" charset="0"/>
                <a:cs typeface="Times New Roman" panose="02020603050405020304" pitchFamily="18" charset="0"/>
              </a:rPr>
              <a:t>Sprint 2 was successfully completed with all five core objectives achieved. The team delivered the full-stack EN-VISION platform — FastAPI backend with auth, analytics, and ingestion service modules — integrated with the Next.js frontend featuring six analytics tabs: Home KPI, Energy Trends, Anomaly Insights, Forecasting, Carbon Analytics, and Power BI.</a:t>
            </a:r>
          </a:p>
          <a:p>
            <a:r>
              <a:rPr lang="en-US" sz="1600" dirty="0">
                <a:latin typeface="Times New Roman" panose="02020603050405020304" pitchFamily="18" charset="0"/>
                <a:cs typeface="Times New Roman" panose="02020603050405020304" pitchFamily="18" charset="0"/>
              </a:rPr>
              <a:t>Authentication with JWT + bcrypt and role-based access control (Admin/User/Viewer) was fully implemented. The anomaly detection engine was corrected using residual Z-score scoring with source attribution and dual KPI metrics — Net Anomalies and Any-Device Anomaly Days. However, an anomaly baseline propagation bug required significant backend refactoring, and inconsistent cost currency representations were resolved through a centralised INR tariff utility (Rs 8.2/kWh).</a:t>
            </a:r>
          </a:p>
          <a:p>
            <a:r>
              <a:rPr lang="en-US" sz="1600" dirty="0">
                <a:latin typeface="Times New Roman" panose="02020603050405020304" pitchFamily="18" charset="0"/>
                <a:cs typeface="Times New Roman" panose="02020603050405020304" pitchFamily="18" charset="0"/>
              </a:rPr>
              <a:t>Key learnings include the importance of centralising shared utilities early and validating data pipelines end-to-end before building the UI layer. In future sprints, automated testing coverage, configurable tariff rates, audit logging, and E2E test suites will be prioritised.</a:t>
            </a:r>
          </a:p>
          <a:p>
            <a:endParaRPr lang="en-IN" dirty="0"/>
          </a:p>
        </p:txBody>
      </p:sp>
      <p:sp>
        <p:nvSpPr>
          <p:cNvPr id="4" name="Date Placeholder 3">
            <a:extLst>
              <a:ext uri="{FF2B5EF4-FFF2-40B4-BE49-F238E27FC236}">
                <a16:creationId xmlns:a16="http://schemas.microsoft.com/office/drawing/2014/main" id="{F7E45222-2748-54F8-D970-B733C7A28560}"/>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213EE13F-A650-C603-7E05-85B52F53D324}"/>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26EBF897-7022-5DE5-0D2F-83A28FBCD3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7" name="Google Shape;98;p2">
            <a:extLst>
              <a:ext uri="{FF2B5EF4-FFF2-40B4-BE49-F238E27FC236}">
                <a16:creationId xmlns:a16="http://schemas.microsoft.com/office/drawing/2014/main" id="{1D2E70BA-60C5-0F03-7D73-7C39E86F3A79}"/>
              </a:ext>
            </a:extLst>
          </p:cNvPr>
          <p:cNvPicPr preferRelativeResize="0"/>
          <p:nvPr/>
        </p:nvPicPr>
        <p:blipFill rotWithShape="1">
          <a:blip r:embed="rId2">
            <a:alphaModFix/>
          </a:blip>
          <a:srcRect/>
          <a:stretch/>
        </p:blipFill>
        <p:spPr>
          <a:xfrm>
            <a:off x="304292" y="436928"/>
            <a:ext cx="2133600" cy="818419"/>
          </a:xfrm>
          <a:prstGeom prst="rect">
            <a:avLst/>
          </a:prstGeom>
          <a:noFill/>
          <a:ln>
            <a:noFill/>
          </a:ln>
        </p:spPr>
      </p:pic>
    </p:spTree>
    <p:extLst>
      <p:ext uri="{BB962C8B-B14F-4D97-AF65-F5344CB8AC3E}">
        <p14:creationId xmlns:p14="http://schemas.microsoft.com/office/powerpoint/2010/main" val="3511685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EA2474B-6EB5-8E69-2435-1E0A68C1BADA}"/>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896611C7-CEB3-46B2-A3B9-E9FC42B4F117}"/>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1508436A-10F1-1667-7E6B-78507A63D75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8" name="Picture 7">
            <a:extLst>
              <a:ext uri="{FF2B5EF4-FFF2-40B4-BE49-F238E27FC236}">
                <a16:creationId xmlns:a16="http://schemas.microsoft.com/office/drawing/2014/main" id="{80BD5A01-0F33-8504-CBE3-8E9A8C677122}"/>
              </a:ext>
            </a:extLst>
          </p:cNvPr>
          <p:cNvPicPr>
            <a:picLocks noChangeAspect="1"/>
          </p:cNvPicPr>
          <p:nvPr/>
        </p:nvPicPr>
        <p:blipFill>
          <a:blip r:embed="rId2"/>
          <a:stretch>
            <a:fillRect/>
          </a:stretch>
        </p:blipFill>
        <p:spPr>
          <a:xfrm>
            <a:off x="457200" y="277201"/>
            <a:ext cx="8247184" cy="3393434"/>
          </a:xfrm>
          <a:prstGeom prst="rect">
            <a:avLst/>
          </a:prstGeom>
        </p:spPr>
      </p:pic>
      <p:sp>
        <p:nvSpPr>
          <p:cNvPr id="9" name="TextBox 8">
            <a:extLst>
              <a:ext uri="{FF2B5EF4-FFF2-40B4-BE49-F238E27FC236}">
                <a16:creationId xmlns:a16="http://schemas.microsoft.com/office/drawing/2014/main" id="{E4055D3A-0913-9201-2E14-69B4815C1383}"/>
              </a:ext>
            </a:extLst>
          </p:cNvPr>
          <p:cNvSpPr txBox="1"/>
          <p:nvPr/>
        </p:nvSpPr>
        <p:spPr>
          <a:xfrm>
            <a:off x="694594" y="3670635"/>
            <a:ext cx="7394331" cy="307777"/>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Sprint Retrospective Matrix : Sprint 2</a:t>
            </a:r>
          </a:p>
        </p:txBody>
      </p:sp>
    </p:spTree>
    <p:extLst>
      <p:ext uri="{BB962C8B-B14F-4D97-AF65-F5344CB8AC3E}">
        <p14:creationId xmlns:p14="http://schemas.microsoft.com/office/powerpoint/2010/main" val="1970388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85B0-0A40-8613-4E52-A68FFCC0EC65}"/>
              </a:ext>
            </a:extLst>
          </p:cNvPr>
          <p:cNvSpPr>
            <a:spLocks noGrp="1"/>
          </p:cNvSpPr>
          <p:nvPr>
            <p:ph type="title"/>
          </p:nvPr>
        </p:nvSpPr>
        <p:spPr>
          <a:xfrm>
            <a:off x="70338" y="160337"/>
            <a:ext cx="8229600" cy="1143000"/>
          </a:xfrm>
        </p:spPr>
        <p:txBody>
          <a:bodyPr>
            <a:normAutofit/>
          </a:bodyPr>
          <a:lstStyle/>
          <a:p>
            <a:r>
              <a:rPr lang="en-IN" sz="40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Sprint Backlog</a:t>
            </a:r>
          </a:p>
        </p:txBody>
      </p:sp>
      <p:sp>
        <p:nvSpPr>
          <p:cNvPr id="3" name="Text Placeholder 2">
            <a:extLst>
              <a:ext uri="{FF2B5EF4-FFF2-40B4-BE49-F238E27FC236}">
                <a16:creationId xmlns:a16="http://schemas.microsoft.com/office/drawing/2014/main" id="{1C0CC513-521A-1056-0E13-978B703592BE}"/>
              </a:ext>
            </a:extLst>
          </p:cNvPr>
          <p:cNvSpPr>
            <a:spLocks noGrp="1"/>
          </p:cNvSpPr>
          <p:nvPr>
            <p:ph type="body" idx="1"/>
          </p:nvPr>
        </p:nvSpPr>
        <p:spPr/>
        <p:txBody>
          <a:bodyPr/>
          <a:lstStyle/>
          <a:p>
            <a:pPr algn="just"/>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Sprint backlog refinement refers to a process that involves evaluating, prioritising, and subdividing specific user stories into bite-sized tasks that can be accomplished during a single sprint cycle. This aids in ensuring that implementation, workloads, and objectives are well-considered.</a:t>
            </a:r>
          </a:p>
          <a:p>
            <a:pPr algn="just"/>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In this project, the sprint backlog refinement process was applied to break down the overall user requirements into executable technical tasks in each sprint.</a:t>
            </a:r>
          </a:p>
          <a:p>
            <a:pPr marL="114300" indent="0">
              <a:buNone/>
            </a:pPr>
            <a:r>
              <a:rPr lang="en-IN" sz="1600" b="1" kern="100" dirty="0">
                <a:effectLst/>
                <a:latin typeface="Times New Roman" panose="02020603050405020304" pitchFamily="18" charset="0"/>
                <a:ea typeface="Calibri" panose="020F0502020204030204" pitchFamily="34" charset="0"/>
              </a:rPr>
              <a:t>      Committed User Stories for Sprint 2</a:t>
            </a:r>
            <a:endParaRPr lang="en-IN" sz="1600" kern="100" dirty="0">
              <a:effectLst/>
              <a:latin typeface="Calibri" panose="020F0502020204030204" pitchFamily="34" charset="0"/>
              <a:ea typeface="Calibri" panose="020F0502020204030204" pitchFamily="34" charset="0"/>
            </a:endParaRPr>
          </a:p>
          <a:p>
            <a:endParaRPr lang="en-IN" dirty="0"/>
          </a:p>
        </p:txBody>
      </p:sp>
      <p:sp>
        <p:nvSpPr>
          <p:cNvPr id="4" name="Date Placeholder 3">
            <a:extLst>
              <a:ext uri="{FF2B5EF4-FFF2-40B4-BE49-F238E27FC236}">
                <a16:creationId xmlns:a16="http://schemas.microsoft.com/office/drawing/2014/main" id="{32962FF6-3FF3-7DFD-4B95-3899B2F205FA}"/>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F53DC928-21FE-6526-1FD9-43A90952AA8C}"/>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BCDAA055-1373-2BEB-20EC-AA7716E84D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7" name="Google Shape;98;p2">
            <a:extLst>
              <a:ext uri="{FF2B5EF4-FFF2-40B4-BE49-F238E27FC236}">
                <a16:creationId xmlns:a16="http://schemas.microsoft.com/office/drawing/2014/main" id="{25254959-2003-42A0-2B49-8CC53A933035}"/>
              </a:ext>
            </a:extLst>
          </p:cNvPr>
          <p:cNvPicPr preferRelativeResize="0"/>
          <p:nvPr/>
        </p:nvPicPr>
        <p:blipFill rotWithShape="1">
          <a:blip r:embed="rId2">
            <a:alphaModFix/>
          </a:blip>
          <a:srcRect/>
          <a:stretch/>
        </p:blipFill>
        <p:spPr>
          <a:xfrm>
            <a:off x="457200" y="436928"/>
            <a:ext cx="2133600" cy="818419"/>
          </a:xfrm>
          <a:prstGeom prst="rect">
            <a:avLst/>
          </a:prstGeom>
          <a:noFill/>
          <a:ln>
            <a:noFill/>
          </a:ln>
        </p:spPr>
      </p:pic>
      <p:graphicFrame>
        <p:nvGraphicFramePr>
          <p:cNvPr id="8" name="Table 7">
            <a:extLst>
              <a:ext uri="{FF2B5EF4-FFF2-40B4-BE49-F238E27FC236}">
                <a16:creationId xmlns:a16="http://schemas.microsoft.com/office/drawing/2014/main" id="{CBEF492F-BC36-B74A-F62D-C0D2602D8F39}"/>
              </a:ext>
            </a:extLst>
          </p:cNvPr>
          <p:cNvGraphicFramePr>
            <a:graphicFrameLocks noGrp="1"/>
          </p:cNvGraphicFramePr>
          <p:nvPr>
            <p:extLst>
              <p:ext uri="{D42A27DB-BD31-4B8C-83A1-F6EECF244321}">
                <p14:modId xmlns:p14="http://schemas.microsoft.com/office/powerpoint/2010/main" val="1267745894"/>
              </p:ext>
            </p:extLst>
          </p:nvPr>
        </p:nvGraphicFramePr>
        <p:xfrm>
          <a:off x="935696" y="3581828"/>
          <a:ext cx="7548427" cy="2560320"/>
        </p:xfrm>
        <a:graphic>
          <a:graphicData uri="http://schemas.openxmlformats.org/drawingml/2006/table">
            <a:tbl>
              <a:tblPr firstRow="1" firstCol="1" bandRow="1">
                <a:tableStyleId>{5C22544A-7EE6-4342-B048-85BDC9FD1C3A}</a:tableStyleId>
              </a:tblPr>
              <a:tblGrid>
                <a:gridCol w="1419935">
                  <a:extLst>
                    <a:ext uri="{9D8B030D-6E8A-4147-A177-3AD203B41FA5}">
                      <a16:colId xmlns:a16="http://schemas.microsoft.com/office/drawing/2014/main" val="1021243867"/>
                    </a:ext>
                  </a:extLst>
                </a:gridCol>
                <a:gridCol w="6128492">
                  <a:extLst>
                    <a:ext uri="{9D8B030D-6E8A-4147-A177-3AD203B41FA5}">
                      <a16:colId xmlns:a16="http://schemas.microsoft.com/office/drawing/2014/main" val="1184100191"/>
                    </a:ext>
                  </a:extLst>
                </a:gridCol>
              </a:tblGrid>
              <a:tr h="0">
                <a:tc>
                  <a:txBody>
                    <a:bodyPr/>
                    <a:lstStyle/>
                    <a:p>
                      <a:pPr algn="l"/>
                      <a:r>
                        <a:rPr lang="en-IN" sz="1200" kern="100">
                          <a:effectLst/>
                        </a:rPr>
                        <a:t>User Story 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IN" sz="1200" kern="100" dirty="0">
                          <a:effectLst/>
                        </a:rPr>
                        <a:t>As a system administrator, I want a secure JWT + bcrypt authentication system with role-based access control so that only authorised users can access the platform based on their assigned roles.</a:t>
                      </a:r>
                      <a:endParaRPr lang="en-IN" sz="1100" kern="100" dirty="0">
                        <a:effectLst/>
                      </a:endParaRPr>
                    </a:p>
                    <a:p>
                      <a:pPr algn="l"/>
                      <a:r>
                        <a:rPr lang="en-IN" sz="1200" kern="100" dirty="0">
                          <a:effectLst/>
                        </a:rPr>
                        <a:t>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78849886"/>
                  </a:ext>
                </a:extLst>
              </a:tr>
              <a:tr h="0">
                <a:tc>
                  <a:txBody>
                    <a:bodyPr/>
                    <a:lstStyle/>
                    <a:p>
                      <a:pPr algn="l"/>
                      <a:r>
                        <a:rPr lang="en-IN" sz="1200" kern="100">
                          <a:effectLst/>
                        </a:rPr>
                        <a:t>User Story 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IN" sz="1200" kern="100" dirty="0">
                          <a:effectLst/>
                        </a:rPr>
                        <a:t>As an energy analyst, I want a residual Z-score anomaly detection engine with source attribution so that I can investigate over-consumption at device, zone, or department level.</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04127898"/>
                  </a:ext>
                </a:extLst>
              </a:tr>
              <a:tr h="0">
                <a:tc>
                  <a:txBody>
                    <a:bodyPr/>
                    <a:lstStyle/>
                    <a:p>
                      <a:pPr algn="l"/>
                      <a:r>
                        <a:rPr lang="en-IN" sz="1200" kern="100">
                          <a:effectLst/>
                        </a:rPr>
                        <a:t>User Story 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IN" sz="1200" kern="100">
                          <a:effectLst/>
                        </a:rPr>
                        <a:t>As a sustainability manager, I want carbon emission analytics integrated into the dashboard so that I can monitor the organisation's carbon footprint.</a:t>
                      </a:r>
                      <a:endParaRPr lang="en-IN" sz="1100" kern="100">
                        <a:effectLst/>
                      </a:endParaRPr>
                    </a:p>
                    <a:p>
                      <a:pPr algn="l"/>
                      <a:r>
                        <a:rPr lang="en-IN" sz="1200" kern="100">
                          <a:effectLst/>
                        </a:rPr>
                        <a:t> </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2837238"/>
                  </a:ext>
                </a:extLst>
              </a:tr>
              <a:tr h="471170">
                <a:tc>
                  <a:txBody>
                    <a:bodyPr/>
                    <a:lstStyle/>
                    <a:p>
                      <a:pPr algn="l"/>
                      <a:r>
                        <a:rPr lang="en-IN" sz="1200" kern="100">
                          <a:effectLst/>
                        </a:rPr>
                        <a:t>User Story 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r>
                        <a:rPr lang="en-IN" sz="1200" kern="100" dirty="0">
                          <a:effectLst/>
                        </a:rPr>
                        <a:t>As a finance manager, I want energy cost calculations standardised in INR via a centralised tariff utility so that financial reporting is consistent. | As a registered user, I want to manage my profile and change my password so that I can maintain my account securely.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07473479"/>
                  </a:ext>
                </a:extLst>
              </a:tr>
            </a:tbl>
          </a:graphicData>
        </a:graphic>
      </p:graphicFrame>
    </p:spTree>
    <p:extLst>
      <p:ext uri="{BB962C8B-B14F-4D97-AF65-F5344CB8AC3E}">
        <p14:creationId xmlns:p14="http://schemas.microsoft.com/office/powerpoint/2010/main" val="3649555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2DA30A3-7917-4E9F-C1F1-3EB84492CEFC}"/>
              </a:ext>
            </a:extLst>
          </p:cNvPr>
          <p:cNvSpPr>
            <a:spLocks noGrp="1"/>
          </p:cNvSpPr>
          <p:nvPr>
            <p:ph type="body" idx="1"/>
          </p:nvPr>
        </p:nvSpPr>
        <p:spPr>
          <a:xfrm>
            <a:off x="457200" y="211016"/>
            <a:ext cx="8229600" cy="4525963"/>
          </a:xfrm>
        </p:spPr>
        <p:txBody>
          <a:bodyPr>
            <a:normAutofit/>
          </a:bodyPr>
          <a:lstStyle/>
          <a:p>
            <a:pPr marL="114300" indent="0">
              <a:buNone/>
            </a:pPr>
            <a:endParaRPr lang="en-IN" sz="1600" b="1" kern="100" dirty="0">
              <a:effectLst/>
              <a:latin typeface="Times New Roman" panose="02020603050405020304" pitchFamily="18" charset="0"/>
              <a:ea typeface="Calibri" panose="020F0502020204030204" pitchFamily="34" charset="0"/>
            </a:endParaRPr>
          </a:p>
          <a:p>
            <a:pPr marL="114300" indent="0">
              <a:buNone/>
            </a:pPr>
            <a:r>
              <a:rPr lang="en-IN" sz="1600" b="1" kern="100" dirty="0">
                <a:effectLst/>
                <a:latin typeface="Times New Roman" panose="02020603050405020304" pitchFamily="18" charset="0"/>
                <a:ea typeface="Calibri" panose="020F0502020204030204" pitchFamily="34" charset="0"/>
              </a:rPr>
              <a:t>Outcome of Sprint Backlog Refinement</a:t>
            </a:r>
            <a:endParaRPr lang="en-IN" sz="1600" kern="100" dirty="0">
              <a:effectLst/>
              <a:latin typeface="Calibri" panose="020F0502020204030204" pitchFamily="34" charset="0"/>
              <a:ea typeface="Calibri" panose="020F0502020204030204" pitchFamily="34" charset="0"/>
            </a:endParaRPr>
          </a:p>
          <a:p>
            <a:pPr marL="342900" lvl="0" indent="-342900">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rPr>
              <a:t>Clear mapping between all 5 user stories and their executable technical tasks was achieved.</a:t>
            </a:r>
            <a:endParaRPr lang="en-IN" sz="1600" kern="100" dirty="0">
              <a:effectLst/>
              <a:latin typeface="Calibri" panose="020F0502020204030204" pitchFamily="34" charset="0"/>
              <a:ea typeface="Calibri" panose="020F0502020204030204" pitchFamily="34" charset="0"/>
            </a:endParaRPr>
          </a:p>
          <a:p>
            <a:pPr marL="342900" lvl="0" indent="-342900">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rPr>
              <a:t>Responsibilities were distributed between Kavisha (frontend, auth UI, carbon) and Karan (backend, anomaly engine, JWT) with joint integration tasks.</a:t>
            </a:r>
            <a:endParaRPr lang="en-IN" sz="1600" kern="100" dirty="0">
              <a:effectLst/>
              <a:latin typeface="Calibri" panose="020F0502020204030204" pitchFamily="34" charset="0"/>
              <a:ea typeface="Calibri" panose="020F0502020204030204" pitchFamily="34" charset="0"/>
            </a:endParaRPr>
          </a:p>
          <a:p>
            <a:pPr marL="342900" lvl="0" indent="-342900">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rPr>
              <a:t>JWT + bcrypt auth with RBAC (Admin/User/Viewer), anomaly detection engine with Z-score scoring and source attribution, and all 6 dashboard tabs successfully delivered.</a:t>
            </a:r>
            <a:endParaRPr lang="en-IN" sz="1600" kern="100" dirty="0">
              <a:effectLst/>
              <a:latin typeface="Calibri" panose="020F0502020204030204" pitchFamily="34" charset="0"/>
              <a:ea typeface="Calibri" panose="020F0502020204030204" pitchFamily="34" charset="0"/>
            </a:endParaRPr>
          </a:p>
          <a:p>
            <a:pPr marL="342900" lvl="0" indent="-342900">
              <a:buSzPts val="1000"/>
              <a:buFont typeface="Symbol" panose="05050102010706020507" pitchFamily="18" charset="2"/>
              <a:buChar char=""/>
              <a:tabLst>
                <a:tab pos="457200" algn="l"/>
              </a:tabLst>
            </a:pPr>
            <a:r>
              <a:rPr lang="en-IN" sz="1600" kern="100" dirty="0">
                <a:effectLst/>
                <a:latin typeface="Times New Roman" panose="02020603050405020304" pitchFamily="18" charset="0"/>
                <a:ea typeface="Calibri" panose="020F0502020204030204" pitchFamily="34" charset="0"/>
              </a:rPr>
              <a:t>Carbon analytics, forecasting, INR cost standardisation, and profile/password management all completed and validated end-to-end.</a:t>
            </a:r>
            <a:endParaRPr lang="en-IN" sz="1600" kern="100" dirty="0">
              <a:effectLst/>
              <a:latin typeface="Calibri" panose="020F0502020204030204" pitchFamily="34" charset="0"/>
              <a:ea typeface="Calibri" panose="020F0502020204030204" pitchFamily="34" charset="0"/>
            </a:endParaRPr>
          </a:p>
          <a:p>
            <a:endParaRPr lang="en-IN" sz="1600" dirty="0"/>
          </a:p>
        </p:txBody>
      </p:sp>
      <p:sp>
        <p:nvSpPr>
          <p:cNvPr id="4" name="Date Placeholder 3">
            <a:extLst>
              <a:ext uri="{FF2B5EF4-FFF2-40B4-BE49-F238E27FC236}">
                <a16:creationId xmlns:a16="http://schemas.microsoft.com/office/drawing/2014/main" id="{5BDAD6F2-F90F-9136-45D4-5249DCA0ED06}"/>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A6195D2D-B461-E995-AC2D-4197758AAC92}"/>
              </a:ext>
            </a:extLst>
          </p:cNvPr>
          <p:cNvSpPr>
            <a:spLocks noGrp="1"/>
          </p:cNvSpPr>
          <p:nvPr>
            <p:ph type="ftr" idx="11"/>
          </p:nvPr>
        </p:nvSpPr>
        <p:spPr/>
        <p:txBody>
          <a:bodyPr/>
          <a:lstStyle/>
          <a:p>
            <a:endParaRPr lang="en-IN" dirty="0"/>
          </a:p>
        </p:txBody>
      </p:sp>
      <p:sp>
        <p:nvSpPr>
          <p:cNvPr id="6" name="Slide Number Placeholder 5">
            <a:extLst>
              <a:ext uri="{FF2B5EF4-FFF2-40B4-BE49-F238E27FC236}">
                <a16:creationId xmlns:a16="http://schemas.microsoft.com/office/drawing/2014/main" id="{481A14AC-1BA5-D5B4-3DC1-F7328577FE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2833251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F79D0-5DF4-E174-DD2A-87025F4BA995}"/>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Authentication and Role Based Access Control</a:t>
            </a:r>
          </a:p>
        </p:txBody>
      </p:sp>
      <p:sp>
        <p:nvSpPr>
          <p:cNvPr id="4" name="Date Placeholder 3">
            <a:extLst>
              <a:ext uri="{FF2B5EF4-FFF2-40B4-BE49-F238E27FC236}">
                <a16:creationId xmlns:a16="http://schemas.microsoft.com/office/drawing/2014/main" id="{4779D8C8-933A-B27C-1964-3E0B1BBC0D23}"/>
              </a:ext>
            </a:extLst>
          </p:cNvPr>
          <p:cNvSpPr>
            <a:spLocks noGrp="1"/>
          </p:cNvSpPr>
          <p:nvPr>
            <p:ph type="dt" idx="10"/>
          </p:nvPr>
        </p:nvSpPr>
        <p:spPr>
          <a:xfrm>
            <a:off x="845585" y="6342552"/>
            <a:ext cx="2118360" cy="212990"/>
          </a:xfrm>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5118B956-9B9E-56F0-BB71-B19A3FB4813A}"/>
              </a:ext>
            </a:extLst>
          </p:cNvPr>
          <p:cNvSpPr>
            <a:spLocks noGrp="1"/>
          </p:cNvSpPr>
          <p:nvPr>
            <p:ph type="ftr" idx="11"/>
          </p:nvPr>
        </p:nvSpPr>
        <p:spPr>
          <a:xfrm>
            <a:off x="3512585" y="6342552"/>
            <a:ext cx="2874917" cy="212990"/>
          </a:xfrm>
        </p:spPr>
        <p:txBody>
          <a:bodyPr/>
          <a:lstStyle/>
          <a:p>
            <a:endParaRPr lang="en-IN" dirty="0"/>
          </a:p>
        </p:txBody>
      </p:sp>
      <p:sp>
        <p:nvSpPr>
          <p:cNvPr id="6" name="Slide Number Placeholder 5">
            <a:extLst>
              <a:ext uri="{FF2B5EF4-FFF2-40B4-BE49-F238E27FC236}">
                <a16:creationId xmlns:a16="http://schemas.microsoft.com/office/drawing/2014/main" id="{B5B3FCD4-95C2-89E8-B003-FE57EBA59978}"/>
              </a:ext>
            </a:extLst>
          </p:cNvPr>
          <p:cNvSpPr>
            <a:spLocks noGrp="1"/>
          </p:cNvSpPr>
          <p:nvPr>
            <p:ph type="sldNum" idx="12"/>
          </p:nvPr>
        </p:nvSpPr>
        <p:spPr>
          <a:xfrm>
            <a:off x="6941585" y="6342552"/>
            <a:ext cx="2118360" cy="212990"/>
          </a:xfrm>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131" name="TextBox 130">
            <a:extLst>
              <a:ext uri="{FF2B5EF4-FFF2-40B4-BE49-F238E27FC236}">
                <a16:creationId xmlns:a16="http://schemas.microsoft.com/office/drawing/2014/main" id="{34005182-65E8-3E02-3384-E20883DD42E7}"/>
              </a:ext>
            </a:extLst>
          </p:cNvPr>
          <p:cNvSpPr txBox="1"/>
          <p:nvPr/>
        </p:nvSpPr>
        <p:spPr>
          <a:xfrm>
            <a:off x="0" y="6600945"/>
            <a:ext cx="7315200" cy="215444"/>
          </a:xfrm>
          <a:prstGeom prst="rect">
            <a:avLst/>
          </a:prstGeom>
          <a:noFill/>
        </p:spPr>
        <p:txBody>
          <a:bodyPr wrap="square">
            <a:spAutoFit/>
          </a:bodyPr>
          <a:lstStyle/>
          <a:p>
            <a:pPr algn="l"/>
            <a:r>
              <a:rPr sz="800" b="0" i="1">
                <a:solidFill>
                  <a:srgbClr val="B0C4DE"/>
                </a:solidFill>
              </a:rPr>
              <a:t>EN-VISION | AI-Driven Smart Energy Optimization &amp; Carbon Analytics Platform</a:t>
            </a:r>
          </a:p>
        </p:txBody>
      </p:sp>
      <p:sp>
        <p:nvSpPr>
          <p:cNvPr id="132" name="TextBox 131">
            <a:extLst>
              <a:ext uri="{FF2B5EF4-FFF2-40B4-BE49-F238E27FC236}">
                <a16:creationId xmlns:a16="http://schemas.microsoft.com/office/drawing/2014/main" id="{7E60BF15-AE1C-BE95-0B1D-63B333040E7D}"/>
              </a:ext>
            </a:extLst>
          </p:cNvPr>
          <p:cNvSpPr txBox="1"/>
          <p:nvPr/>
        </p:nvSpPr>
        <p:spPr>
          <a:xfrm>
            <a:off x="10789920" y="6600945"/>
            <a:ext cx="914400" cy="215444"/>
          </a:xfrm>
          <a:prstGeom prst="rect">
            <a:avLst/>
          </a:prstGeom>
          <a:noFill/>
        </p:spPr>
        <p:txBody>
          <a:bodyPr wrap="square">
            <a:spAutoFit/>
          </a:bodyPr>
          <a:lstStyle/>
          <a:p>
            <a:pPr algn="r"/>
            <a:r>
              <a:rPr sz="800" b="0" i="0">
                <a:solidFill>
                  <a:srgbClr val="B0C4DE"/>
                </a:solidFill>
              </a:rPr>
              <a:t>8 / 21</a:t>
            </a:r>
          </a:p>
        </p:txBody>
      </p:sp>
      <p:sp>
        <p:nvSpPr>
          <p:cNvPr id="134" name="TextBox 133">
            <a:extLst>
              <a:ext uri="{FF2B5EF4-FFF2-40B4-BE49-F238E27FC236}">
                <a16:creationId xmlns:a16="http://schemas.microsoft.com/office/drawing/2014/main" id="{8A0DFF94-2611-B460-33A4-DB7120C2BAC9}"/>
              </a:ext>
            </a:extLst>
          </p:cNvPr>
          <p:cNvSpPr txBox="1"/>
          <p:nvPr/>
        </p:nvSpPr>
        <p:spPr>
          <a:xfrm>
            <a:off x="18625" y="1413175"/>
            <a:ext cx="8896263" cy="246221"/>
          </a:xfrm>
          <a:prstGeom prst="rect">
            <a:avLst/>
          </a:prstGeom>
          <a:solidFill>
            <a:schemeClr val="bg2">
              <a:lumMod val="75000"/>
            </a:schemeClr>
          </a:solidFill>
        </p:spPr>
        <p:txBody>
          <a:bodyPr wrap="square">
            <a:spAutoFit/>
          </a:bodyPr>
          <a:lstStyle/>
          <a:p>
            <a:pPr algn="l"/>
            <a:r>
              <a:rPr sz="1000" b="1" i="0" dirty="0">
                <a:solidFill>
                  <a:srgbClr val="FFB705"/>
                </a:solidFill>
              </a:rPr>
              <a:t>LOGIN &amp; TOKEN FLOW</a:t>
            </a:r>
          </a:p>
        </p:txBody>
      </p:sp>
      <p:sp>
        <p:nvSpPr>
          <p:cNvPr id="135" name="Rounded Rectangle 10">
            <a:extLst>
              <a:ext uri="{FF2B5EF4-FFF2-40B4-BE49-F238E27FC236}">
                <a16:creationId xmlns:a16="http://schemas.microsoft.com/office/drawing/2014/main" id="{31AC70E2-116B-B574-A268-99DFF763FED1}"/>
              </a:ext>
            </a:extLst>
          </p:cNvPr>
          <p:cNvSpPr/>
          <p:nvPr/>
        </p:nvSpPr>
        <p:spPr>
          <a:xfrm>
            <a:off x="18625" y="1805067"/>
            <a:ext cx="1361803" cy="533401"/>
          </a:xfrm>
          <a:prstGeom prst="roundRect">
            <a:avLst>
              <a:gd name="adj" fmla="val 5000"/>
            </a:avLst>
          </a:prstGeom>
          <a:solidFill>
            <a:srgbClr val="162C4A"/>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6" name="TextBox 135">
            <a:extLst>
              <a:ext uri="{FF2B5EF4-FFF2-40B4-BE49-F238E27FC236}">
                <a16:creationId xmlns:a16="http://schemas.microsoft.com/office/drawing/2014/main" id="{C6FCDA51-CEDB-EF79-713A-07A4DB2EAAB1}"/>
              </a:ext>
            </a:extLst>
          </p:cNvPr>
          <p:cNvSpPr txBox="1"/>
          <p:nvPr/>
        </p:nvSpPr>
        <p:spPr>
          <a:xfrm>
            <a:off x="-9470" y="1860451"/>
            <a:ext cx="1271016" cy="369332"/>
          </a:xfrm>
          <a:prstGeom prst="rect">
            <a:avLst/>
          </a:prstGeom>
          <a:noFill/>
        </p:spPr>
        <p:txBody>
          <a:bodyPr wrap="square">
            <a:spAutoFit/>
          </a:bodyPr>
          <a:lstStyle/>
          <a:p>
            <a:pPr algn="ctr"/>
            <a:r>
              <a:rPr sz="900" b="0" i="0" dirty="0">
                <a:solidFill>
                  <a:srgbClr val="FFFFFF"/>
                </a:solidFill>
              </a:rPr>
              <a:t>🌐 Browser
/login page</a:t>
            </a:r>
          </a:p>
        </p:txBody>
      </p:sp>
      <p:sp>
        <p:nvSpPr>
          <p:cNvPr id="137" name="TextBox 136">
            <a:extLst>
              <a:ext uri="{FF2B5EF4-FFF2-40B4-BE49-F238E27FC236}">
                <a16:creationId xmlns:a16="http://schemas.microsoft.com/office/drawing/2014/main" id="{9FA5561D-BD22-32FE-4995-C3C8A4BE11E8}"/>
              </a:ext>
            </a:extLst>
          </p:cNvPr>
          <p:cNvSpPr txBox="1"/>
          <p:nvPr/>
        </p:nvSpPr>
        <p:spPr>
          <a:xfrm>
            <a:off x="1325880" y="1914645"/>
            <a:ext cx="118023" cy="276999"/>
          </a:xfrm>
          <a:prstGeom prst="rect">
            <a:avLst/>
          </a:prstGeom>
          <a:noFill/>
        </p:spPr>
        <p:txBody>
          <a:bodyPr wrap="square">
            <a:spAutoFit/>
          </a:bodyPr>
          <a:lstStyle/>
          <a:p>
            <a:pPr algn="l"/>
            <a:r>
              <a:rPr sz="1200" b="0" i="0">
                <a:solidFill>
                  <a:srgbClr val="FFB705"/>
                </a:solidFill>
              </a:rPr>
              <a:t>→</a:t>
            </a:r>
          </a:p>
        </p:txBody>
      </p:sp>
      <p:sp>
        <p:nvSpPr>
          <p:cNvPr id="138" name="Rounded Rectangle 13">
            <a:extLst>
              <a:ext uri="{FF2B5EF4-FFF2-40B4-BE49-F238E27FC236}">
                <a16:creationId xmlns:a16="http://schemas.microsoft.com/office/drawing/2014/main" id="{0D68157B-AB8C-4DB9-7260-79A5942A3D87}"/>
              </a:ext>
            </a:extLst>
          </p:cNvPr>
          <p:cNvSpPr/>
          <p:nvPr/>
        </p:nvSpPr>
        <p:spPr>
          <a:xfrm>
            <a:off x="1463693" y="1815583"/>
            <a:ext cx="1361803" cy="533401"/>
          </a:xfrm>
          <a:prstGeom prst="roundRect">
            <a:avLst>
              <a:gd name="adj" fmla="val 5000"/>
            </a:avLst>
          </a:prstGeom>
          <a:solidFill>
            <a:srgbClr val="162C4A"/>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9" name="TextBox 138">
            <a:extLst>
              <a:ext uri="{FF2B5EF4-FFF2-40B4-BE49-F238E27FC236}">
                <a16:creationId xmlns:a16="http://schemas.microsoft.com/office/drawing/2014/main" id="{FFB64E6C-D207-9C42-B126-B59FBB77E698}"/>
              </a:ext>
            </a:extLst>
          </p:cNvPr>
          <p:cNvSpPr txBox="1"/>
          <p:nvPr/>
        </p:nvSpPr>
        <p:spPr>
          <a:xfrm>
            <a:off x="1462844" y="1887102"/>
            <a:ext cx="1271016" cy="369332"/>
          </a:xfrm>
          <a:prstGeom prst="rect">
            <a:avLst/>
          </a:prstGeom>
          <a:noFill/>
        </p:spPr>
        <p:txBody>
          <a:bodyPr wrap="square">
            <a:spAutoFit/>
          </a:bodyPr>
          <a:lstStyle/>
          <a:p>
            <a:pPr algn="ctr"/>
            <a:r>
              <a:rPr sz="900" b="0" i="0">
                <a:solidFill>
                  <a:srgbClr val="FFFFFF"/>
                </a:solidFill>
              </a:rPr>
              <a:t>📤 POST
/auth/login</a:t>
            </a:r>
          </a:p>
        </p:txBody>
      </p:sp>
      <p:sp>
        <p:nvSpPr>
          <p:cNvPr id="140" name="TextBox 139">
            <a:extLst>
              <a:ext uri="{FF2B5EF4-FFF2-40B4-BE49-F238E27FC236}">
                <a16:creationId xmlns:a16="http://schemas.microsoft.com/office/drawing/2014/main" id="{5E6C41C1-13C8-E084-DFC5-55F803399557}"/>
              </a:ext>
            </a:extLst>
          </p:cNvPr>
          <p:cNvSpPr txBox="1"/>
          <p:nvPr/>
        </p:nvSpPr>
        <p:spPr>
          <a:xfrm>
            <a:off x="2816352" y="1914645"/>
            <a:ext cx="118023" cy="276999"/>
          </a:xfrm>
          <a:prstGeom prst="rect">
            <a:avLst/>
          </a:prstGeom>
          <a:noFill/>
        </p:spPr>
        <p:txBody>
          <a:bodyPr wrap="square">
            <a:spAutoFit/>
          </a:bodyPr>
          <a:lstStyle/>
          <a:p>
            <a:pPr algn="l"/>
            <a:r>
              <a:rPr sz="1200" b="0" i="0">
                <a:solidFill>
                  <a:srgbClr val="FFB705"/>
                </a:solidFill>
              </a:rPr>
              <a:t>→</a:t>
            </a:r>
          </a:p>
        </p:txBody>
      </p:sp>
      <p:sp>
        <p:nvSpPr>
          <p:cNvPr id="141" name="Rounded Rectangle 16">
            <a:extLst>
              <a:ext uri="{FF2B5EF4-FFF2-40B4-BE49-F238E27FC236}">
                <a16:creationId xmlns:a16="http://schemas.microsoft.com/office/drawing/2014/main" id="{393E71BF-1F2E-4A9F-B0C7-BBFB1BB19D1D}"/>
              </a:ext>
            </a:extLst>
          </p:cNvPr>
          <p:cNvSpPr/>
          <p:nvPr/>
        </p:nvSpPr>
        <p:spPr>
          <a:xfrm>
            <a:off x="2944596" y="1843228"/>
            <a:ext cx="1361803" cy="533401"/>
          </a:xfrm>
          <a:prstGeom prst="roundRect">
            <a:avLst>
              <a:gd name="adj" fmla="val 5000"/>
            </a:avLst>
          </a:prstGeom>
          <a:solidFill>
            <a:srgbClr val="162C4A"/>
          </a:solidFill>
          <a:ln w="19050">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2" name="TextBox 141">
            <a:extLst>
              <a:ext uri="{FF2B5EF4-FFF2-40B4-BE49-F238E27FC236}">
                <a16:creationId xmlns:a16="http://schemas.microsoft.com/office/drawing/2014/main" id="{E3FF5797-01F6-7B05-D7A6-45A570253BBB}"/>
              </a:ext>
            </a:extLst>
          </p:cNvPr>
          <p:cNvSpPr txBox="1"/>
          <p:nvPr/>
        </p:nvSpPr>
        <p:spPr>
          <a:xfrm>
            <a:off x="2943747" y="1869207"/>
            <a:ext cx="1271016" cy="369332"/>
          </a:xfrm>
          <a:prstGeom prst="rect">
            <a:avLst/>
          </a:prstGeom>
          <a:noFill/>
        </p:spPr>
        <p:txBody>
          <a:bodyPr wrap="square">
            <a:spAutoFit/>
          </a:bodyPr>
          <a:lstStyle/>
          <a:p>
            <a:pPr algn="ctr"/>
            <a:r>
              <a:rPr sz="900" b="0" i="0">
                <a:solidFill>
                  <a:srgbClr val="FFFFFF"/>
                </a:solidFill>
              </a:rPr>
              <a:t>🔐 bcrypt
Verify Hash</a:t>
            </a:r>
          </a:p>
        </p:txBody>
      </p:sp>
      <p:sp>
        <p:nvSpPr>
          <p:cNvPr id="143" name="TextBox 142">
            <a:extLst>
              <a:ext uri="{FF2B5EF4-FFF2-40B4-BE49-F238E27FC236}">
                <a16:creationId xmlns:a16="http://schemas.microsoft.com/office/drawing/2014/main" id="{1ADBF4C5-0D24-CF20-B392-B8FA998D0027}"/>
              </a:ext>
            </a:extLst>
          </p:cNvPr>
          <p:cNvSpPr txBox="1"/>
          <p:nvPr/>
        </p:nvSpPr>
        <p:spPr>
          <a:xfrm>
            <a:off x="4306824" y="1914645"/>
            <a:ext cx="118023" cy="276999"/>
          </a:xfrm>
          <a:prstGeom prst="rect">
            <a:avLst/>
          </a:prstGeom>
          <a:noFill/>
        </p:spPr>
        <p:txBody>
          <a:bodyPr wrap="square">
            <a:spAutoFit/>
          </a:bodyPr>
          <a:lstStyle/>
          <a:p>
            <a:pPr algn="l"/>
            <a:r>
              <a:rPr sz="1200" b="0" i="0">
                <a:solidFill>
                  <a:srgbClr val="FFB705"/>
                </a:solidFill>
              </a:rPr>
              <a:t>→</a:t>
            </a:r>
          </a:p>
        </p:txBody>
      </p:sp>
      <p:sp>
        <p:nvSpPr>
          <p:cNvPr id="144" name="Rounded Rectangle 19">
            <a:extLst>
              <a:ext uri="{FF2B5EF4-FFF2-40B4-BE49-F238E27FC236}">
                <a16:creationId xmlns:a16="http://schemas.microsoft.com/office/drawing/2014/main" id="{2534014C-1357-5870-62BA-27862014E4B3}"/>
              </a:ext>
            </a:extLst>
          </p:cNvPr>
          <p:cNvSpPr/>
          <p:nvPr/>
        </p:nvSpPr>
        <p:spPr>
          <a:xfrm>
            <a:off x="4425696" y="1815583"/>
            <a:ext cx="1361803" cy="533401"/>
          </a:xfrm>
          <a:prstGeom prst="roundRect">
            <a:avLst>
              <a:gd name="adj" fmla="val 5000"/>
            </a:avLst>
          </a:prstGeom>
          <a:solidFill>
            <a:srgbClr val="162C4A"/>
          </a:solidFill>
          <a:ln w="19050">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5" name="TextBox 144">
            <a:extLst>
              <a:ext uri="{FF2B5EF4-FFF2-40B4-BE49-F238E27FC236}">
                <a16:creationId xmlns:a16="http://schemas.microsoft.com/office/drawing/2014/main" id="{0DCA0E65-777B-70E2-E440-4B8185BD78D9}"/>
              </a:ext>
            </a:extLst>
          </p:cNvPr>
          <p:cNvSpPr txBox="1"/>
          <p:nvPr/>
        </p:nvSpPr>
        <p:spPr>
          <a:xfrm>
            <a:off x="4471416" y="1832993"/>
            <a:ext cx="1271016" cy="369332"/>
          </a:xfrm>
          <a:prstGeom prst="rect">
            <a:avLst/>
          </a:prstGeom>
          <a:noFill/>
        </p:spPr>
        <p:txBody>
          <a:bodyPr wrap="square">
            <a:spAutoFit/>
          </a:bodyPr>
          <a:lstStyle/>
          <a:p>
            <a:pPr algn="ctr"/>
            <a:r>
              <a:rPr sz="900" b="0" i="0" dirty="0">
                <a:solidFill>
                  <a:srgbClr val="FFFFFF"/>
                </a:solidFill>
              </a:rPr>
              <a:t>🎫 JWT
Token Issued</a:t>
            </a:r>
          </a:p>
        </p:txBody>
      </p:sp>
      <p:sp>
        <p:nvSpPr>
          <p:cNvPr id="146" name="TextBox 145">
            <a:extLst>
              <a:ext uri="{FF2B5EF4-FFF2-40B4-BE49-F238E27FC236}">
                <a16:creationId xmlns:a16="http://schemas.microsoft.com/office/drawing/2014/main" id="{A14F782A-8BD5-161B-532C-690AB06D33BD}"/>
              </a:ext>
            </a:extLst>
          </p:cNvPr>
          <p:cNvSpPr txBox="1"/>
          <p:nvPr/>
        </p:nvSpPr>
        <p:spPr>
          <a:xfrm>
            <a:off x="5797296" y="1914645"/>
            <a:ext cx="118023" cy="276999"/>
          </a:xfrm>
          <a:prstGeom prst="rect">
            <a:avLst/>
          </a:prstGeom>
          <a:noFill/>
        </p:spPr>
        <p:txBody>
          <a:bodyPr wrap="square">
            <a:spAutoFit/>
          </a:bodyPr>
          <a:lstStyle/>
          <a:p>
            <a:pPr algn="l"/>
            <a:r>
              <a:rPr sz="1200" b="0" i="0">
                <a:solidFill>
                  <a:srgbClr val="FFB705"/>
                </a:solidFill>
              </a:rPr>
              <a:t>→</a:t>
            </a:r>
          </a:p>
        </p:txBody>
      </p:sp>
      <p:sp>
        <p:nvSpPr>
          <p:cNvPr id="147" name="Rounded Rectangle 22">
            <a:extLst>
              <a:ext uri="{FF2B5EF4-FFF2-40B4-BE49-F238E27FC236}">
                <a16:creationId xmlns:a16="http://schemas.microsoft.com/office/drawing/2014/main" id="{A3887880-468D-50CB-343F-6A0D5099F3C3}"/>
              </a:ext>
            </a:extLst>
          </p:cNvPr>
          <p:cNvSpPr/>
          <p:nvPr/>
        </p:nvSpPr>
        <p:spPr>
          <a:xfrm>
            <a:off x="5916168" y="1815583"/>
            <a:ext cx="1361803" cy="533401"/>
          </a:xfrm>
          <a:prstGeom prst="roundRect">
            <a:avLst>
              <a:gd name="adj" fmla="val 5000"/>
            </a:avLst>
          </a:prstGeom>
          <a:solidFill>
            <a:srgbClr val="162C4A"/>
          </a:solidFill>
          <a:ln w="190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a:extLst>
              <a:ext uri="{FF2B5EF4-FFF2-40B4-BE49-F238E27FC236}">
                <a16:creationId xmlns:a16="http://schemas.microsoft.com/office/drawing/2014/main" id="{0A7BC19F-E081-BB56-2047-623C728CD2A6}"/>
              </a:ext>
            </a:extLst>
          </p:cNvPr>
          <p:cNvSpPr txBox="1"/>
          <p:nvPr/>
        </p:nvSpPr>
        <p:spPr>
          <a:xfrm>
            <a:off x="5942947" y="1887467"/>
            <a:ext cx="1271016" cy="369332"/>
          </a:xfrm>
          <a:prstGeom prst="rect">
            <a:avLst/>
          </a:prstGeom>
          <a:noFill/>
        </p:spPr>
        <p:txBody>
          <a:bodyPr wrap="square">
            <a:spAutoFit/>
          </a:bodyPr>
          <a:lstStyle/>
          <a:p>
            <a:pPr algn="ctr"/>
            <a:r>
              <a:rPr sz="900" b="0" i="0">
                <a:solidFill>
                  <a:srgbClr val="FFFFFF"/>
                </a:solidFill>
              </a:rPr>
              <a:t>🍪 Token
Stored</a:t>
            </a:r>
          </a:p>
        </p:txBody>
      </p:sp>
      <p:sp>
        <p:nvSpPr>
          <p:cNvPr id="149" name="TextBox 148">
            <a:extLst>
              <a:ext uri="{FF2B5EF4-FFF2-40B4-BE49-F238E27FC236}">
                <a16:creationId xmlns:a16="http://schemas.microsoft.com/office/drawing/2014/main" id="{ED0E2578-9A47-1967-47C8-83059BECD1BA}"/>
              </a:ext>
            </a:extLst>
          </p:cNvPr>
          <p:cNvSpPr txBox="1"/>
          <p:nvPr/>
        </p:nvSpPr>
        <p:spPr>
          <a:xfrm>
            <a:off x="7287768" y="1914645"/>
            <a:ext cx="118023" cy="276999"/>
          </a:xfrm>
          <a:prstGeom prst="rect">
            <a:avLst/>
          </a:prstGeom>
          <a:noFill/>
        </p:spPr>
        <p:txBody>
          <a:bodyPr wrap="square">
            <a:spAutoFit/>
          </a:bodyPr>
          <a:lstStyle/>
          <a:p>
            <a:pPr algn="l"/>
            <a:r>
              <a:rPr sz="1200" b="0" i="0">
                <a:solidFill>
                  <a:srgbClr val="FFB705"/>
                </a:solidFill>
              </a:rPr>
              <a:t>→</a:t>
            </a:r>
          </a:p>
        </p:txBody>
      </p:sp>
      <p:sp>
        <p:nvSpPr>
          <p:cNvPr id="150" name="Rounded Rectangle 25">
            <a:extLst>
              <a:ext uri="{FF2B5EF4-FFF2-40B4-BE49-F238E27FC236}">
                <a16:creationId xmlns:a16="http://schemas.microsoft.com/office/drawing/2014/main" id="{769AA629-0D64-6D18-124F-1A1BB39D25D9}"/>
              </a:ext>
            </a:extLst>
          </p:cNvPr>
          <p:cNvSpPr/>
          <p:nvPr/>
        </p:nvSpPr>
        <p:spPr>
          <a:xfrm>
            <a:off x="7406640" y="1815583"/>
            <a:ext cx="1361803" cy="533401"/>
          </a:xfrm>
          <a:prstGeom prst="roundRect">
            <a:avLst>
              <a:gd name="adj" fmla="val 5000"/>
            </a:avLst>
          </a:prstGeom>
          <a:solidFill>
            <a:srgbClr val="162C4A"/>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a:extLst>
              <a:ext uri="{FF2B5EF4-FFF2-40B4-BE49-F238E27FC236}">
                <a16:creationId xmlns:a16="http://schemas.microsoft.com/office/drawing/2014/main" id="{390E1842-B633-15F8-0562-1F1063320D59}"/>
              </a:ext>
            </a:extLst>
          </p:cNvPr>
          <p:cNvSpPr txBox="1"/>
          <p:nvPr/>
        </p:nvSpPr>
        <p:spPr>
          <a:xfrm>
            <a:off x="7415784" y="1831524"/>
            <a:ext cx="1271016" cy="369332"/>
          </a:xfrm>
          <a:prstGeom prst="rect">
            <a:avLst/>
          </a:prstGeom>
          <a:noFill/>
        </p:spPr>
        <p:txBody>
          <a:bodyPr wrap="square">
            <a:spAutoFit/>
          </a:bodyPr>
          <a:lstStyle/>
          <a:p>
            <a:pPr algn="ctr"/>
            <a:r>
              <a:rPr sz="900" b="0" i="0">
                <a:solidFill>
                  <a:srgbClr val="FFFFFF"/>
                </a:solidFill>
              </a:rPr>
              <a:t>📡 Axios
Bearer Header</a:t>
            </a:r>
          </a:p>
        </p:txBody>
      </p:sp>
      <p:sp>
        <p:nvSpPr>
          <p:cNvPr id="152" name="TextBox 151">
            <a:extLst>
              <a:ext uri="{FF2B5EF4-FFF2-40B4-BE49-F238E27FC236}">
                <a16:creationId xmlns:a16="http://schemas.microsoft.com/office/drawing/2014/main" id="{6377D51E-CEFA-113D-1A80-A0635FFDA6C5}"/>
              </a:ext>
            </a:extLst>
          </p:cNvPr>
          <p:cNvSpPr txBox="1"/>
          <p:nvPr/>
        </p:nvSpPr>
        <p:spPr>
          <a:xfrm>
            <a:off x="8778240" y="1914645"/>
            <a:ext cx="118023" cy="276999"/>
          </a:xfrm>
          <a:prstGeom prst="rect">
            <a:avLst/>
          </a:prstGeom>
          <a:noFill/>
        </p:spPr>
        <p:txBody>
          <a:bodyPr wrap="square">
            <a:spAutoFit/>
          </a:bodyPr>
          <a:lstStyle/>
          <a:p>
            <a:pPr algn="l"/>
            <a:r>
              <a:rPr sz="1200" b="0" i="0">
                <a:solidFill>
                  <a:srgbClr val="FFB705"/>
                </a:solidFill>
              </a:rPr>
              <a:t>→</a:t>
            </a:r>
          </a:p>
        </p:txBody>
      </p:sp>
      <p:sp>
        <p:nvSpPr>
          <p:cNvPr id="153" name="Rounded Rectangle 28">
            <a:extLst>
              <a:ext uri="{FF2B5EF4-FFF2-40B4-BE49-F238E27FC236}">
                <a16:creationId xmlns:a16="http://schemas.microsoft.com/office/drawing/2014/main" id="{F5637930-6263-C707-DEC5-D33A648545F8}"/>
              </a:ext>
            </a:extLst>
          </p:cNvPr>
          <p:cNvSpPr/>
          <p:nvPr/>
        </p:nvSpPr>
        <p:spPr>
          <a:xfrm>
            <a:off x="5943600" y="2381956"/>
            <a:ext cx="1361803" cy="533401"/>
          </a:xfrm>
          <a:prstGeom prst="roundRect">
            <a:avLst>
              <a:gd name="adj" fmla="val 5000"/>
            </a:avLst>
          </a:prstGeom>
          <a:solidFill>
            <a:srgbClr val="162C4A"/>
          </a:solidFill>
          <a:ln w="19050">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4" name="TextBox 153">
            <a:extLst>
              <a:ext uri="{FF2B5EF4-FFF2-40B4-BE49-F238E27FC236}">
                <a16:creationId xmlns:a16="http://schemas.microsoft.com/office/drawing/2014/main" id="{E40CB0AC-D91F-92BE-B0B7-2961944EA925}"/>
              </a:ext>
            </a:extLst>
          </p:cNvPr>
          <p:cNvSpPr txBox="1"/>
          <p:nvPr/>
        </p:nvSpPr>
        <p:spPr>
          <a:xfrm>
            <a:off x="5971368" y="2437877"/>
            <a:ext cx="1271016" cy="369332"/>
          </a:xfrm>
          <a:prstGeom prst="rect">
            <a:avLst/>
          </a:prstGeom>
          <a:noFill/>
        </p:spPr>
        <p:txBody>
          <a:bodyPr wrap="square">
            <a:spAutoFit/>
          </a:bodyPr>
          <a:lstStyle/>
          <a:p>
            <a:pPr algn="ctr"/>
            <a:r>
              <a:rPr sz="900" b="0" i="0" dirty="0">
                <a:solidFill>
                  <a:srgbClr val="FFFFFF"/>
                </a:solidFill>
              </a:rPr>
              <a:t>✅ </a:t>
            </a:r>
            <a:r>
              <a:rPr sz="900" b="0" i="0" dirty="0" err="1">
                <a:solidFill>
                  <a:srgbClr val="FFFFFF"/>
                </a:solidFill>
              </a:rPr>
              <a:t>FastAPI</a:t>
            </a:r>
            <a:r>
              <a:rPr sz="900" b="0" i="0" dirty="0">
                <a:solidFill>
                  <a:srgbClr val="FFFFFF"/>
                </a:solidFill>
              </a:rPr>
              <a:t>
Validate JWT</a:t>
            </a:r>
          </a:p>
        </p:txBody>
      </p:sp>
      <p:sp>
        <p:nvSpPr>
          <p:cNvPr id="155" name="TextBox 154">
            <a:extLst>
              <a:ext uri="{FF2B5EF4-FFF2-40B4-BE49-F238E27FC236}">
                <a16:creationId xmlns:a16="http://schemas.microsoft.com/office/drawing/2014/main" id="{D044FB2F-0227-E683-87F8-CA599ED27E58}"/>
              </a:ext>
            </a:extLst>
          </p:cNvPr>
          <p:cNvSpPr txBox="1"/>
          <p:nvPr/>
        </p:nvSpPr>
        <p:spPr>
          <a:xfrm>
            <a:off x="10240432" y="1914645"/>
            <a:ext cx="118023" cy="276999"/>
          </a:xfrm>
          <a:prstGeom prst="rect">
            <a:avLst/>
          </a:prstGeom>
          <a:noFill/>
        </p:spPr>
        <p:txBody>
          <a:bodyPr wrap="square">
            <a:spAutoFit/>
          </a:bodyPr>
          <a:lstStyle/>
          <a:p>
            <a:pPr algn="l"/>
            <a:r>
              <a:rPr sz="1200" b="0" i="0" dirty="0">
                <a:solidFill>
                  <a:srgbClr val="FFB705"/>
                </a:solidFill>
              </a:rPr>
              <a:t>→</a:t>
            </a:r>
          </a:p>
        </p:txBody>
      </p:sp>
      <p:sp>
        <p:nvSpPr>
          <p:cNvPr id="156" name="Rounded Rectangle 31">
            <a:extLst>
              <a:ext uri="{FF2B5EF4-FFF2-40B4-BE49-F238E27FC236}">
                <a16:creationId xmlns:a16="http://schemas.microsoft.com/office/drawing/2014/main" id="{0A3A995F-06CC-BF10-F933-82A9D2198837}"/>
              </a:ext>
            </a:extLst>
          </p:cNvPr>
          <p:cNvSpPr/>
          <p:nvPr/>
        </p:nvSpPr>
        <p:spPr>
          <a:xfrm>
            <a:off x="7415784" y="2391221"/>
            <a:ext cx="1271016" cy="533401"/>
          </a:xfrm>
          <a:prstGeom prst="roundRect">
            <a:avLst>
              <a:gd name="adj" fmla="val 5000"/>
            </a:avLst>
          </a:prstGeom>
          <a:solidFill>
            <a:srgbClr val="162C4A"/>
          </a:solidFill>
          <a:ln w="19050">
            <a:solidFill>
              <a:srgbClr val="06D6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7" name="TextBox 156">
            <a:extLst>
              <a:ext uri="{FF2B5EF4-FFF2-40B4-BE49-F238E27FC236}">
                <a16:creationId xmlns:a16="http://schemas.microsoft.com/office/drawing/2014/main" id="{CB5A5ABA-3947-EFC1-975A-FC5C7843E1F0}"/>
              </a:ext>
            </a:extLst>
          </p:cNvPr>
          <p:cNvSpPr txBox="1"/>
          <p:nvPr/>
        </p:nvSpPr>
        <p:spPr>
          <a:xfrm>
            <a:off x="7415784" y="2474829"/>
            <a:ext cx="1271016" cy="369332"/>
          </a:xfrm>
          <a:prstGeom prst="rect">
            <a:avLst/>
          </a:prstGeom>
          <a:noFill/>
        </p:spPr>
        <p:txBody>
          <a:bodyPr wrap="square">
            <a:spAutoFit/>
          </a:bodyPr>
          <a:lstStyle/>
          <a:p>
            <a:pPr algn="ctr"/>
            <a:r>
              <a:rPr sz="900" b="0" i="0" dirty="0">
                <a:solidFill>
                  <a:srgbClr val="FFFFFF"/>
                </a:solidFill>
              </a:rPr>
              <a:t>📊 Dashboard
Data Served</a:t>
            </a:r>
          </a:p>
        </p:txBody>
      </p:sp>
      <p:sp>
        <p:nvSpPr>
          <p:cNvPr id="158" name="TextBox 157">
            <a:extLst>
              <a:ext uri="{FF2B5EF4-FFF2-40B4-BE49-F238E27FC236}">
                <a16:creationId xmlns:a16="http://schemas.microsoft.com/office/drawing/2014/main" id="{D882F6BE-4ECA-3357-AF34-82562C0E266F}"/>
              </a:ext>
            </a:extLst>
          </p:cNvPr>
          <p:cNvSpPr txBox="1"/>
          <p:nvPr/>
        </p:nvSpPr>
        <p:spPr>
          <a:xfrm>
            <a:off x="8747" y="2874143"/>
            <a:ext cx="8914888" cy="246221"/>
          </a:xfrm>
          <a:prstGeom prst="rect">
            <a:avLst/>
          </a:prstGeom>
          <a:solidFill>
            <a:schemeClr val="bg2">
              <a:lumMod val="75000"/>
            </a:schemeClr>
          </a:solidFill>
        </p:spPr>
        <p:txBody>
          <a:bodyPr wrap="square">
            <a:spAutoFit/>
          </a:bodyPr>
          <a:lstStyle/>
          <a:p>
            <a:pPr algn="l"/>
            <a:r>
              <a:rPr sz="1000" b="1" i="0" dirty="0">
                <a:solidFill>
                  <a:srgbClr val="00B4D8"/>
                </a:solidFill>
              </a:rPr>
              <a:t>AUTH ENDPOINTS</a:t>
            </a:r>
          </a:p>
        </p:txBody>
      </p:sp>
      <p:sp>
        <p:nvSpPr>
          <p:cNvPr id="159" name="Rounded Rectangle 34">
            <a:extLst>
              <a:ext uri="{FF2B5EF4-FFF2-40B4-BE49-F238E27FC236}">
                <a16:creationId xmlns:a16="http://schemas.microsoft.com/office/drawing/2014/main" id="{DC86920D-0770-555A-9620-FD3711AE060C}"/>
              </a:ext>
            </a:extLst>
          </p:cNvPr>
          <p:cNvSpPr/>
          <p:nvPr/>
        </p:nvSpPr>
        <p:spPr>
          <a:xfrm>
            <a:off x="0" y="3353300"/>
            <a:ext cx="2130124" cy="480061"/>
          </a:xfrm>
          <a:prstGeom prst="roundRect">
            <a:avLst>
              <a:gd name="adj" fmla="val 5000"/>
            </a:avLst>
          </a:prstGeom>
          <a:solidFill>
            <a:srgbClr val="12233A"/>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ounded Rectangle 35">
            <a:extLst>
              <a:ext uri="{FF2B5EF4-FFF2-40B4-BE49-F238E27FC236}">
                <a16:creationId xmlns:a16="http://schemas.microsoft.com/office/drawing/2014/main" id="{6C9B3CF3-67D6-0E5C-647E-86FE51D18342}"/>
              </a:ext>
            </a:extLst>
          </p:cNvPr>
          <p:cNvSpPr/>
          <p:nvPr/>
        </p:nvSpPr>
        <p:spPr>
          <a:xfrm>
            <a:off x="91440" y="3190504"/>
            <a:ext cx="544721" cy="160020"/>
          </a:xfrm>
          <a:prstGeom prst="roundRect">
            <a:avLst>
              <a:gd name="adj" fmla="val 5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a:extLst>
              <a:ext uri="{FF2B5EF4-FFF2-40B4-BE49-F238E27FC236}">
                <a16:creationId xmlns:a16="http://schemas.microsoft.com/office/drawing/2014/main" id="{CD8F070A-AEC7-D3C3-BAC0-473DD648732B}"/>
              </a:ext>
            </a:extLst>
          </p:cNvPr>
          <p:cNvSpPr txBox="1"/>
          <p:nvPr/>
        </p:nvSpPr>
        <p:spPr>
          <a:xfrm>
            <a:off x="100518" y="3189100"/>
            <a:ext cx="526564" cy="207749"/>
          </a:xfrm>
          <a:prstGeom prst="rect">
            <a:avLst/>
          </a:prstGeom>
          <a:noFill/>
        </p:spPr>
        <p:txBody>
          <a:bodyPr wrap="square">
            <a:spAutoFit/>
          </a:bodyPr>
          <a:lstStyle/>
          <a:p>
            <a:pPr algn="ctr"/>
            <a:r>
              <a:rPr sz="750" b="1" i="0" dirty="0">
                <a:solidFill>
                  <a:srgbClr val="0A1628"/>
                </a:solidFill>
              </a:rPr>
              <a:t>POST</a:t>
            </a:r>
          </a:p>
        </p:txBody>
      </p:sp>
      <p:sp>
        <p:nvSpPr>
          <p:cNvPr id="162" name="TextBox 161">
            <a:extLst>
              <a:ext uri="{FF2B5EF4-FFF2-40B4-BE49-F238E27FC236}">
                <a16:creationId xmlns:a16="http://schemas.microsoft.com/office/drawing/2014/main" id="{9BAB48AF-8CDE-F6AE-8108-8A32B4D880D9}"/>
              </a:ext>
            </a:extLst>
          </p:cNvPr>
          <p:cNvSpPr txBox="1"/>
          <p:nvPr/>
        </p:nvSpPr>
        <p:spPr>
          <a:xfrm>
            <a:off x="685800" y="3036319"/>
            <a:ext cx="1407196" cy="223138"/>
          </a:xfrm>
          <a:prstGeom prst="rect">
            <a:avLst/>
          </a:prstGeom>
          <a:noFill/>
        </p:spPr>
        <p:txBody>
          <a:bodyPr wrap="square">
            <a:spAutoFit/>
          </a:bodyPr>
          <a:lstStyle/>
          <a:p>
            <a:pPr algn="l"/>
            <a:r>
              <a:rPr sz="850" b="1" i="0">
                <a:solidFill>
                  <a:srgbClr val="FFFFFF"/>
                </a:solidFill>
              </a:rPr>
              <a:t>/auth/login</a:t>
            </a:r>
          </a:p>
        </p:txBody>
      </p:sp>
      <p:sp>
        <p:nvSpPr>
          <p:cNvPr id="163" name="TextBox 162">
            <a:extLst>
              <a:ext uri="{FF2B5EF4-FFF2-40B4-BE49-F238E27FC236}">
                <a16:creationId xmlns:a16="http://schemas.microsoft.com/office/drawing/2014/main" id="{E628647F-9253-53E3-6C59-7395501C16FE}"/>
              </a:ext>
            </a:extLst>
          </p:cNvPr>
          <p:cNvSpPr txBox="1"/>
          <p:nvPr/>
        </p:nvSpPr>
        <p:spPr>
          <a:xfrm>
            <a:off x="101041" y="3449722"/>
            <a:ext cx="1997311" cy="223138"/>
          </a:xfrm>
          <a:prstGeom prst="rect">
            <a:avLst/>
          </a:prstGeom>
          <a:noFill/>
        </p:spPr>
        <p:txBody>
          <a:bodyPr wrap="square">
            <a:spAutoFit/>
          </a:bodyPr>
          <a:lstStyle/>
          <a:p>
            <a:pPr algn="l"/>
            <a:r>
              <a:rPr sz="850" b="0" i="0" dirty="0">
                <a:solidFill>
                  <a:srgbClr val="B0C4DE"/>
                </a:solidFill>
              </a:rPr>
              <a:t>Validate credentials → issue JWT</a:t>
            </a:r>
          </a:p>
        </p:txBody>
      </p:sp>
      <p:sp>
        <p:nvSpPr>
          <p:cNvPr id="164" name="Rounded Rectangle 39">
            <a:extLst>
              <a:ext uri="{FF2B5EF4-FFF2-40B4-BE49-F238E27FC236}">
                <a16:creationId xmlns:a16="http://schemas.microsoft.com/office/drawing/2014/main" id="{735B84CC-C157-7A0E-887D-3B955585BAAB}"/>
              </a:ext>
            </a:extLst>
          </p:cNvPr>
          <p:cNvSpPr/>
          <p:nvPr/>
        </p:nvSpPr>
        <p:spPr>
          <a:xfrm>
            <a:off x="2218212" y="3333532"/>
            <a:ext cx="2178885" cy="480061"/>
          </a:xfrm>
          <a:prstGeom prst="roundRect">
            <a:avLst>
              <a:gd name="adj" fmla="val 5000"/>
            </a:avLst>
          </a:prstGeom>
          <a:solidFill>
            <a:srgbClr val="12233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ounded Rectangle 40">
            <a:extLst>
              <a:ext uri="{FF2B5EF4-FFF2-40B4-BE49-F238E27FC236}">
                <a16:creationId xmlns:a16="http://schemas.microsoft.com/office/drawing/2014/main" id="{99468578-587B-F676-0FF1-26D115863A58}"/>
              </a:ext>
            </a:extLst>
          </p:cNvPr>
          <p:cNvSpPr/>
          <p:nvPr/>
        </p:nvSpPr>
        <p:spPr>
          <a:xfrm>
            <a:off x="2401279" y="3208505"/>
            <a:ext cx="445313" cy="130187"/>
          </a:xfrm>
          <a:prstGeom prst="roundRect">
            <a:avLst>
              <a:gd name="adj" fmla="val 5000"/>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6" name="TextBox 165">
            <a:extLst>
              <a:ext uri="{FF2B5EF4-FFF2-40B4-BE49-F238E27FC236}">
                <a16:creationId xmlns:a16="http://schemas.microsoft.com/office/drawing/2014/main" id="{2E8ABB8A-E567-4AF1-A08E-076A7CF0A0F7}"/>
              </a:ext>
            </a:extLst>
          </p:cNvPr>
          <p:cNvSpPr txBox="1"/>
          <p:nvPr/>
        </p:nvSpPr>
        <p:spPr>
          <a:xfrm>
            <a:off x="2382991" y="3179398"/>
            <a:ext cx="481694" cy="207749"/>
          </a:xfrm>
          <a:prstGeom prst="rect">
            <a:avLst/>
          </a:prstGeom>
          <a:noFill/>
        </p:spPr>
        <p:txBody>
          <a:bodyPr wrap="square">
            <a:spAutoFit/>
          </a:bodyPr>
          <a:lstStyle/>
          <a:p>
            <a:pPr algn="ctr"/>
            <a:r>
              <a:rPr sz="750" b="1" i="0" dirty="0">
                <a:solidFill>
                  <a:srgbClr val="0A1628"/>
                </a:solidFill>
              </a:rPr>
              <a:t>GET</a:t>
            </a:r>
          </a:p>
        </p:txBody>
      </p:sp>
      <p:sp>
        <p:nvSpPr>
          <p:cNvPr id="167" name="TextBox 166">
            <a:extLst>
              <a:ext uri="{FF2B5EF4-FFF2-40B4-BE49-F238E27FC236}">
                <a16:creationId xmlns:a16="http://schemas.microsoft.com/office/drawing/2014/main" id="{D7278065-BF63-E740-B4A8-33E9F28B9559}"/>
              </a:ext>
            </a:extLst>
          </p:cNvPr>
          <p:cNvSpPr txBox="1"/>
          <p:nvPr/>
        </p:nvSpPr>
        <p:spPr>
          <a:xfrm>
            <a:off x="3063240" y="3036319"/>
            <a:ext cx="1407196" cy="223138"/>
          </a:xfrm>
          <a:prstGeom prst="rect">
            <a:avLst/>
          </a:prstGeom>
          <a:noFill/>
        </p:spPr>
        <p:txBody>
          <a:bodyPr wrap="square">
            <a:spAutoFit/>
          </a:bodyPr>
          <a:lstStyle/>
          <a:p>
            <a:pPr algn="l"/>
            <a:r>
              <a:rPr sz="850" b="1" i="0" dirty="0">
                <a:solidFill>
                  <a:srgbClr val="FFFFFF"/>
                </a:solidFill>
              </a:rPr>
              <a:t>/auth/me</a:t>
            </a:r>
          </a:p>
        </p:txBody>
      </p:sp>
      <p:sp>
        <p:nvSpPr>
          <p:cNvPr id="168" name="TextBox 167">
            <a:extLst>
              <a:ext uri="{FF2B5EF4-FFF2-40B4-BE49-F238E27FC236}">
                <a16:creationId xmlns:a16="http://schemas.microsoft.com/office/drawing/2014/main" id="{CB20BB48-0059-C1AE-0934-66A85061BDA0}"/>
              </a:ext>
            </a:extLst>
          </p:cNvPr>
          <p:cNvSpPr txBox="1"/>
          <p:nvPr/>
        </p:nvSpPr>
        <p:spPr>
          <a:xfrm>
            <a:off x="2296907" y="3477338"/>
            <a:ext cx="1997311" cy="223138"/>
          </a:xfrm>
          <a:prstGeom prst="rect">
            <a:avLst/>
          </a:prstGeom>
          <a:noFill/>
        </p:spPr>
        <p:txBody>
          <a:bodyPr wrap="square">
            <a:spAutoFit/>
          </a:bodyPr>
          <a:lstStyle/>
          <a:p>
            <a:pPr algn="l"/>
            <a:r>
              <a:rPr sz="850" b="0" i="0" dirty="0">
                <a:solidFill>
                  <a:srgbClr val="B0C4DE"/>
                </a:solidFill>
              </a:rPr>
              <a:t>Return current user from token</a:t>
            </a:r>
          </a:p>
        </p:txBody>
      </p:sp>
      <p:sp>
        <p:nvSpPr>
          <p:cNvPr id="169" name="Rounded Rectangle 44">
            <a:extLst>
              <a:ext uri="{FF2B5EF4-FFF2-40B4-BE49-F238E27FC236}">
                <a16:creationId xmlns:a16="http://schemas.microsoft.com/office/drawing/2014/main" id="{A80CF29C-C714-FD65-332E-C7FCDC80B0F9}"/>
              </a:ext>
            </a:extLst>
          </p:cNvPr>
          <p:cNvSpPr/>
          <p:nvPr/>
        </p:nvSpPr>
        <p:spPr>
          <a:xfrm>
            <a:off x="4491661" y="3345680"/>
            <a:ext cx="2178885" cy="480061"/>
          </a:xfrm>
          <a:prstGeom prst="roundRect">
            <a:avLst>
              <a:gd name="adj" fmla="val 5000"/>
            </a:avLst>
          </a:prstGeom>
          <a:solidFill>
            <a:srgbClr val="12233A"/>
          </a:solidFill>
          <a:ln w="12700">
            <a:solidFill>
              <a:srgbClr val="B0C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0" name="Rounded Rectangle 45">
            <a:extLst>
              <a:ext uri="{FF2B5EF4-FFF2-40B4-BE49-F238E27FC236}">
                <a16:creationId xmlns:a16="http://schemas.microsoft.com/office/drawing/2014/main" id="{7675BD3B-0CF6-3FAD-DEF2-896F7621B986}"/>
              </a:ext>
            </a:extLst>
          </p:cNvPr>
          <p:cNvSpPr/>
          <p:nvPr/>
        </p:nvSpPr>
        <p:spPr>
          <a:xfrm>
            <a:off x="4813925" y="3189066"/>
            <a:ext cx="544721" cy="160020"/>
          </a:xfrm>
          <a:prstGeom prst="roundRect">
            <a:avLst>
              <a:gd name="adj" fmla="val 5000"/>
            </a:avLst>
          </a:prstGeom>
          <a:solidFill>
            <a:srgbClr val="B0C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a:extLst>
              <a:ext uri="{FF2B5EF4-FFF2-40B4-BE49-F238E27FC236}">
                <a16:creationId xmlns:a16="http://schemas.microsoft.com/office/drawing/2014/main" id="{DF3C1656-54AD-32F5-BDB4-E75FD47FF043}"/>
              </a:ext>
            </a:extLst>
          </p:cNvPr>
          <p:cNvSpPr txBox="1"/>
          <p:nvPr/>
        </p:nvSpPr>
        <p:spPr>
          <a:xfrm>
            <a:off x="4832082" y="3198694"/>
            <a:ext cx="526564" cy="207749"/>
          </a:xfrm>
          <a:prstGeom prst="rect">
            <a:avLst/>
          </a:prstGeom>
          <a:noFill/>
        </p:spPr>
        <p:txBody>
          <a:bodyPr wrap="square">
            <a:spAutoFit/>
          </a:bodyPr>
          <a:lstStyle/>
          <a:p>
            <a:pPr algn="ctr"/>
            <a:r>
              <a:rPr sz="750" b="1" i="0">
                <a:solidFill>
                  <a:srgbClr val="0A1628"/>
                </a:solidFill>
              </a:rPr>
              <a:t>POST</a:t>
            </a:r>
          </a:p>
        </p:txBody>
      </p:sp>
      <p:sp>
        <p:nvSpPr>
          <p:cNvPr id="172" name="TextBox 171">
            <a:extLst>
              <a:ext uri="{FF2B5EF4-FFF2-40B4-BE49-F238E27FC236}">
                <a16:creationId xmlns:a16="http://schemas.microsoft.com/office/drawing/2014/main" id="{F9AF9727-C975-2297-C6D1-0C175851DF41}"/>
              </a:ext>
            </a:extLst>
          </p:cNvPr>
          <p:cNvSpPr txBox="1"/>
          <p:nvPr/>
        </p:nvSpPr>
        <p:spPr>
          <a:xfrm>
            <a:off x="5440680" y="3036319"/>
            <a:ext cx="1407196" cy="223138"/>
          </a:xfrm>
          <a:prstGeom prst="rect">
            <a:avLst/>
          </a:prstGeom>
          <a:noFill/>
        </p:spPr>
        <p:txBody>
          <a:bodyPr wrap="square">
            <a:spAutoFit/>
          </a:bodyPr>
          <a:lstStyle/>
          <a:p>
            <a:pPr algn="l"/>
            <a:r>
              <a:rPr sz="850" b="1" i="0">
                <a:solidFill>
                  <a:srgbClr val="FFFFFF"/>
                </a:solidFill>
              </a:rPr>
              <a:t>/auth/logout</a:t>
            </a:r>
          </a:p>
        </p:txBody>
      </p:sp>
      <p:sp>
        <p:nvSpPr>
          <p:cNvPr id="173" name="TextBox 172">
            <a:extLst>
              <a:ext uri="{FF2B5EF4-FFF2-40B4-BE49-F238E27FC236}">
                <a16:creationId xmlns:a16="http://schemas.microsoft.com/office/drawing/2014/main" id="{951CD9E9-113D-441A-B0D5-1C005B317BA7}"/>
              </a:ext>
            </a:extLst>
          </p:cNvPr>
          <p:cNvSpPr txBox="1"/>
          <p:nvPr/>
        </p:nvSpPr>
        <p:spPr>
          <a:xfrm>
            <a:off x="4846320" y="3402079"/>
            <a:ext cx="1997311" cy="223138"/>
          </a:xfrm>
          <a:prstGeom prst="rect">
            <a:avLst/>
          </a:prstGeom>
          <a:noFill/>
        </p:spPr>
        <p:txBody>
          <a:bodyPr wrap="square">
            <a:spAutoFit/>
          </a:bodyPr>
          <a:lstStyle/>
          <a:p>
            <a:pPr algn="l"/>
            <a:r>
              <a:rPr sz="850" b="0" i="0">
                <a:solidFill>
                  <a:srgbClr val="B0C4DE"/>
                </a:solidFill>
              </a:rPr>
              <a:t>Clear session token</a:t>
            </a:r>
          </a:p>
        </p:txBody>
      </p:sp>
      <p:sp>
        <p:nvSpPr>
          <p:cNvPr id="174" name="Rounded Rectangle 49">
            <a:extLst>
              <a:ext uri="{FF2B5EF4-FFF2-40B4-BE49-F238E27FC236}">
                <a16:creationId xmlns:a16="http://schemas.microsoft.com/office/drawing/2014/main" id="{2746B91A-AF24-39B0-429E-1D6E81EA084B}"/>
              </a:ext>
            </a:extLst>
          </p:cNvPr>
          <p:cNvSpPr/>
          <p:nvPr/>
        </p:nvSpPr>
        <p:spPr>
          <a:xfrm>
            <a:off x="6747067" y="3347985"/>
            <a:ext cx="1997311" cy="467102"/>
          </a:xfrm>
          <a:prstGeom prst="roundRect">
            <a:avLst>
              <a:gd name="adj" fmla="val 5000"/>
            </a:avLst>
          </a:prstGeom>
          <a:solidFill>
            <a:srgbClr val="12233A"/>
          </a:solidFill>
          <a:ln w="12700">
            <a:solidFill>
              <a:srgbClr val="FF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ounded Rectangle 50">
            <a:extLst>
              <a:ext uri="{FF2B5EF4-FFF2-40B4-BE49-F238E27FC236}">
                <a16:creationId xmlns:a16="http://schemas.microsoft.com/office/drawing/2014/main" id="{26A8E8DA-3E82-3758-4642-A7D705FC9C31}"/>
              </a:ext>
            </a:extLst>
          </p:cNvPr>
          <p:cNvSpPr/>
          <p:nvPr/>
        </p:nvSpPr>
        <p:spPr>
          <a:xfrm>
            <a:off x="6847514" y="3179468"/>
            <a:ext cx="544721" cy="160020"/>
          </a:xfrm>
          <a:prstGeom prst="roundRect">
            <a:avLst>
              <a:gd name="adj" fmla="val 5000"/>
            </a:avLst>
          </a:prstGeom>
          <a:solidFill>
            <a:srgbClr val="FF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a:extLst>
              <a:ext uri="{FF2B5EF4-FFF2-40B4-BE49-F238E27FC236}">
                <a16:creationId xmlns:a16="http://schemas.microsoft.com/office/drawing/2014/main" id="{401C26DC-E429-F9FA-C5AC-43011F34D0D3}"/>
              </a:ext>
            </a:extLst>
          </p:cNvPr>
          <p:cNvSpPr txBox="1"/>
          <p:nvPr/>
        </p:nvSpPr>
        <p:spPr>
          <a:xfrm>
            <a:off x="6837389" y="3181786"/>
            <a:ext cx="526564" cy="207749"/>
          </a:xfrm>
          <a:prstGeom prst="rect">
            <a:avLst/>
          </a:prstGeom>
          <a:noFill/>
        </p:spPr>
        <p:txBody>
          <a:bodyPr wrap="square">
            <a:spAutoFit/>
          </a:bodyPr>
          <a:lstStyle/>
          <a:p>
            <a:pPr algn="ctr"/>
            <a:r>
              <a:rPr sz="750" b="1" i="0">
                <a:solidFill>
                  <a:srgbClr val="0A1628"/>
                </a:solidFill>
              </a:rPr>
              <a:t>PATCH</a:t>
            </a:r>
          </a:p>
        </p:txBody>
      </p:sp>
      <p:sp>
        <p:nvSpPr>
          <p:cNvPr id="177" name="TextBox 176">
            <a:extLst>
              <a:ext uri="{FF2B5EF4-FFF2-40B4-BE49-F238E27FC236}">
                <a16:creationId xmlns:a16="http://schemas.microsoft.com/office/drawing/2014/main" id="{F2168361-DF92-AF20-C81F-141318BAE22C}"/>
              </a:ext>
            </a:extLst>
          </p:cNvPr>
          <p:cNvSpPr txBox="1"/>
          <p:nvPr/>
        </p:nvSpPr>
        <p:spPr>
          <a:xfrm>
            <a:off x="7818120" y="3036319"/>
            <a:ext cx="1407196" cy="223138"/>
          </a:xfrm>
          <a:prstGeom prst="rect">
            <a:avLst/>
          </a:prstGeom>
          <a:noFill/>
        </p:spPr>
        <p:txBody>
          <a:bodyPr wrap="square">
            <a:spAutoFit/>
          </a:bodyPr>
          <a:lstStyle/>
          <a:p>
            <a:pPr algn="l"/>
            <a:r>
              <a:rPr sz="850" b="1" i="0">
                <a:solidFill>
                  <a:srgbClr val="FFFFFF"/>
                </a:solidFill>
              </a:rPr>
              <a:t>/auth/profile</a:t>
            </a:r>
          </a:p>
        </p:txBody>
      </p:sp>
      <p:sp>
        <p:nvSpPr>
          <p:cNvPr id="178" name="TextBox 177">
            <a:extLst>
              <a:ext uri="{FF2B5EF4-FFF2-40B4-BE49-F238E27FC236}">
                <a16:creationId xmlns:a16="http://schemas.microsoft.com/office/drawing/2014/main" id="{D2FF997C-975E-1D90-4979-69FD90240CC8}"/>
              </a:ext>
            </a:extLst>
          </p:cNvPr>
          <p:cNvSpPr txBox="1"/>
          <p:nvPr/>
        </p:nvSpPr>
        <p:spPr>
          <a:xfrm>
            <a:off x="6879077" y="3430953"/>
            <a:ext cx="1997311" cy="223138"/>
          </a:xfrm>
          <a:prstGeom prst="rect">
            <a:avLst/>
          </a:prstGeom>
          <a:noFill/>
        </p:spPr>
        <p:txBody>
          <a:bodyPr wrap="square">
            <a:spAutoFit/>
          </a:bodyPr>
          <a:lstStyle/>
          <a:p>
            <a:pPr algn="l"/>
            <a:r>
              <a:rPr sz="850" b="0" i="0" dirty="0">
                <a:solidFill>
                  <a:srgbClr val="B0C4DE"/>
                </a:solidFill>
              </a:rPr>
              <a:t>Update username/email</a:t>
            </a:r>
          </a:p>
        </p:txBody>
      </p:sp>
      <p:sp>
        <p:nvSpPr>
          <p:cNvPr id="181" name="TextBox 180">
            <a:extLst>
              <a:ext uri="{FF2B5EF4-FFF2-40B4-BE49-F238E27FC236}">
                <a16:creationId xmlns:a16="http://schemas.microsoft.com/office/drawing/2014/main" id="{A0493004-3A2A-4D3C-5629-339A6B360860}"/>
              </a:ext>
            </a:extLst>
          </p:cNvPr>
          <p:cNvSpPr txBox="1"/>
          <p:nvPr/>
        </p:nvSpPr>
        <p:spPr>
          <a:xfrm>
            <a:off x="9578115" y="3292975"/>
            <a:ext cx="526564" cy="207749"/>
          </a:xfrm>
          <a:prstGeom prst="rect">
            <a:avLst/>
          </a:prstGeom>
          <a:noFill/>
        </p:spPr>
        <p:txBody>
          <a:bodyPr wrap="square">
            <a:spAutoFit/>
          </a:bodyPr>
          <a:lstStyle/>
          <a:p>
            <a:pPr algn="ctr"/>
            <a:r>
              <a:rPr sz="750" b="1" i="0" dirty="0">
                <a:solidFill>
                  <a:srgbClr val="0A1628"/>
                </a:solidFill>
              </a:rPr>
              <a:t>POST</a:t>
            </a:r>
          </a:p>
        </p:txBody>
      </p:sp>
      <p:sp>
        <p:nvSpPr>
          <p:cNvPr id="182" name="TextBox 181">
            <a:extLst>
              <a:ext uri="{FF2B5EF4-FFF2-40B4-BE49-F238E27FC236}">
                <a16:creationId xmlns:a16="http://schemas.microsoft.com/office/drawing/2014/main" id="{89D5A8E8-3F60-AB9C-D7D4-D4D2660FF277}"/>
              </a:ext>
            </a:extLst>
          </p:cNvPr>
          <p:cNvSpPr txBox="1"/>
          <p:nvPr/>
        </p:nvSpPr>
        <p:spPr>
          <a:xfrm>
            <a:off x="8229600" y="3825900"/>
            <a:ext cx="890886" cy="353943"/>
          </a:xfrm>
          <a:prstGeom prst="rect">
            <a:avLst/>
          </a:prstGeom>
          <a:noFill/>
        </p:spPr>
        <p:txBody>
          <a:bodyPr wrap="square">
            <a:spAutoFit/>
          </a:bodyPr>
          <a:lstStyle/>
          <a:p>
            <a:pPr algn="l"/>
            <a:r>
              <a:rPr sz="850" b="1" i="0" dirty="0">
                <a:solidFill>
                  <a:srgbClr val="FFFFFF"/>
                </a:solidFill>
              </a:rPr>
              <a:t>/auth/change-password</a:t>
            </a:r>
          </a:p>
        </p:txBody>
      </p:sp>
      <p:sp>
        <p:nvSpPr>
          <p:cNvPr id="183" name="TextBox 182">
            <a:extLst>
              <a:ext uri="{FF2B5EF4-FFF2-40B4-BE49-F238E27FC236}">
                <a16:creationId xmlns:a16="http://schemas.microsoft.com/office/drawing/2014/main" id="{8F68E203-CA2B-2746-2219-A5C5914FC49A}"/>
              </a:ext>
            </a:extLst>
          </p:cNvPr>
          <p:cNvSpPr txBox="1"/>
          <p:nvPr/>
        </p:nvSpPr>
        <p:spPr>
          <a:xfrm>
            <a:off x="7123175" y="3994870"/>
            <a:ext cx="1997311" cy="223138"/>
          </a:xfrm>
          <a:prstGeom prst="rect">
            <a:avLst/>
          </a:prstGeom>
          <a:noFill/>
        </p:spPr>
        <p:txBody>
          <a:bodyPr wrap="square">
            <a:spAutoFit/>
          </a:bodyPr>
          <a:lstStyle/>
          <a:p>
            <a:pPr algn="l"/>
            <a:r>
              <a:rPr sz="850" b="0" i="0">
                <a:solidFill>
                  <a:srgbClr val="B0C4DE"/>
                </a:solidFill>
              </a:rPr>
              <a:t>bcrypt re-hash new password</a:t>
            </a:r>
          </a:p>
        </p:txBody>
      </p:sp>
      <p:sp>
        <p:nvSpPr>
          <p:cNvPr id="184" name="TextBox 183">
            <a:extLst>
              <a:ext uri="{FF2B5EF4-FFF2-40B4-BE49-F238E27FC236}">
                <a16:creationId xmlns:a16="http://schemas.microsoft.com/office/drawing/2014/main" id="{5A2320D5-FE87-C48D-1B89-D52371584A75}"/>
              </a:ext>
            </a:extLst>
          </p:cNvPr>
          <p:cNvSpPr txBox="1"/>
          <p:nvPr/>
        </p:nvSpPr>
        <p:spPr>
          <a:xfrm>
            <a:off x="-45720" y="4006204"/>
            <a:ext cx="11348357" cy="246221"/>
          </a:xfrm>
          <a:prstGeom prst="rect">
            <a:avLst/>
          </a:prstGeom>
          <a:noFill/>
        </p:spPr>
        <p:txBody>
          <a:bodyPr wrap="square">
            <a:spAutoFit/>
          </a:bodyPr>
          <a:lstStyle/>
          <a:p>
            <a:pPr algn="l"/>
            <a:r>
              <a:rPr sz="1000" b="1" i="0" dirty="0">
                <a:solidFill>
                  <a:srgbClr val="00D4FF"/>
                </a:solidFill>
              </a:rPr>
              <a:t>ROLE-BASED ACCESS CONTROL</a:t>
            </a:r>
          </a:p>
        </p:txBody>
      </p:sp>
      <p:sp>
        <p:nvSpPr>
          <p:cNvPr id="185" name="Rounded Rectangle 60">
            <a:extLst>
              <a:ext uri="{FF2B5EF4-FFF2-40B4-BE49-F238E27FC236}">
                <a16:creationId xmlns:a16="http://schemas.microsoft.com/office/drawing/2014/main" id="{9C250332-9377-75AB-5924-4E18D1A370C8}"/>
              </a:ext>
            </a:extLst>
          </p:cNvPr>
          <p:cNvSpPr/>
          <p:nvPr/>
        </p:nvSpPr>
        <p:spPr>
          <a:xfrm>
            <a:off x="91440" y="4402575"/>
            <a:ext cx="3177540" cy="186690"/>
          </a:xfrm>
          <a:prstGeom prst="roundRect">
            <a:avLst>
              <a:gd name="adj" fmla="val 5000"/>
            </a:avLst>
          </a:prstGeom>
          <a:solidFill>
            <a:srgbClr val="1E3A5F"/>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a:extLst>
              <a:ext uri="{FF2B5EF4-FFF2-40B4-BE49-F238E27FC236}">
                <a16:creationId xmlns:a16="http://schemas.microsoft.com/office/drawing/2014/main" id="{64C49C1D-ED64-EC25-BD29-22177D1A0E4A}"/>
              </a:ext>
            </a:extLst>
          </p:cNvPr>
          <p:cNvSpPr txBox="1"/>
          <p:nvPr/>
        </p:nvSpPr>
        <p:spPr>
          <a:xfrm>
            <a:off x="182880" y="4396043"/>
            <a:ext cx="3041360" cy="238527"/>
          </a:xfrm>
          <a:prstGeom prst="rect">
            <a:avLst/>
          </a:prstGeom>
          <a:noFill/>
        </p:spPr>
        <p:txBody>
          <a:bodyPr wrap="square">
            <a:spAutoFit/>
          </a:bodyPr>
          <a:lstStyle/>
          <a:p>
            <a:pPr algn="l"/>
            <a:r>
              <a:rPr sz="950" b="1" i="0">
                <a:solidFill>
                  <a:srgbClr val="FFFFFF"/>
                </a:solidFill>
              </a:rPr>
              <a:t>Dashboard Tab</a:t>
            </a:r>
          </a:p>
        </p:txBody>
      </p:sp>
      <p:sp>
        <p:nvSpPr>
          <p:cNvPr id="187" name="Rounded Rectangle 62">
            <a:extLst>
              <a:ext uri="{FF2B5EF4-FFF2-40B4-BE49-F238E27FC236}">
                <a16:creationId xmlns:a16="http://schemas.microsoft.com/office/drawing/2014/main" id="{99086A1B-4093-7001-5134-A98190498516}"/>
              </a:ext>
            </a:extLst>
          </p:cNvPr>
          <p:cNvSpPr/>
          <p:nvPr/>
        </p:nvSpPr>
        <p:spPr>
          <a:xfrm>
            <a:off x="3474720" y="4402575"/>
            <a:ext cx="1916321" cy="186690"/>
          </a:xfrm>
          <a:prstGeom prst="roundRect">
            <a:avLst>
              <a:gd name="adj" fmla="val 5000"/>
            </a:avLst>
          </a:prstGeom>
          <a:solidFill>
            <a:srgbClr val="1E3A5F"/>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8" name="TextBox 187">
            <a:extLst>
              <a:ext uri="{FF2B5EF4-FFF2-40B4-BE49-F238E27FC236}">
                <a16:creationId xmlns:a16="http://schemas.microsoft.com/office/drawing/2014/main" id="{D7D0C35A-2963-5528-4290-F9E3392ED3B3}"/>
              </a:ext>
            </a:extLst>
          </p:cNvPr>
          <p:cNvSpPr txBox="1"/>
          <p:nvPr/>
        </p:nvSpPr>
        <p:spPr>
          <a:xfrm>
            <a:off x="3566160" y="4396044"/>
            <a:ext cx="1824881" cy="238527"/>
          </a:xfrm>
          <a:prstGeom prst="rect">
            <a:avLst/>
          </a:prstGeom>
          <a:noFill/>
        </p:spPr>
        <p:txBody>
          <a:bodyPr wrap="square">
            <a:spAutoFit/>
          </a:bodyPr>
          <a:lstStyle/>
          <a:p>
            <a:pPr algn="ctr"/>
            <a:r>
              <a:rPr sz="950" b="1" i="0" dirty="0">
                <a:solidFill>
                  <a:srgbClr val="FFFFFF"/>
                </a:solidFill>
              </a:rPr>
              <a:t>Admin</a:t>
            </a:r>
          </a:p>
        </p:txBody>
      </p:sp>
      <p:sp>
        <p:nvSpPr>
          <p:cNvPr id="189" name="Rounded Rectangle 64">
            <a:extLst>
              <a:ext uri="{FF2B5EF4-FFF2-40B4-BE49-F238E27FC236}">
                <a16:creationId xmlns:a16="http://schemas.microsoft.com/office/drawing/2014/main" id="{5BE20177-072B-E622-128A-1F0670D5CCCF}"/>
              </a:ext>
            </a:extLst>
          </p:cNvPr>
          <p:cNvSpPr/>
          <p:nvPr/>
        </p:nvSpPr>
        <p:spPr>
          <a:xfrm>
            <a:off x="5548449" y="4413045"/>
            <a:ext cx="2269671" cy="186690"/>
          </a:xfrm>
          <a:prstGeom prst="roundRect">
            <a:avLst>
              <a:gd name="adj" fmla="val 5000"/>
            </a:avLst>
          </a:prstGeom>
          <a:solidFill>
            <a:srgbClr val="1E3A5F"/>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a:extLst>
              <a:ext uri="{FF2B5EF4-FFF2-40B4-BE49-F238E27FC236}">
                <a16:creationId xmlns:a16="http://schemas.microsoft.com/office/drawing/2014/main" id="{6623811A-A828-E4C0-8A52-B3FE79162416}"/>
              </a:ext>
            </a:extLst>
          </p:cNvPr>
          <p:cNvSpPr txBox="1"/>
          <p:nvPr/>
        </p:nvSpPr>
        <p:spPr>
          <a:xfrm>
            <a:off x="5557729" y="4406729"/>
            <a:ext cx="2106264" cy="238527"/>
          </a:xfrm>
          <a:prstGeom prst="rect">
            <a:avLst/>
          </a:prstGeom>
          <a:noFill/>
        </p:spPr>
        <p:txBody>
          <a:bodyPr wrap="square">
            <a:spAutoFit/>
          </a:bodyPr>
          <a:lstStyle/>
          <a:p>
            <a:pPr algn="ctr"/>
            <a:r>
              <a:rPr sz="950" b="1" i="0" dirty="0">
                <a:solidFill>
                  <a:srgbClr val="FFFFFF"/>
                </a:solidFill>
              </a:rPr>
              <a:t>User</a:t>
            </a:r>
          </a:p>
        </p:txBody>
      </p:sp>
      <p:sp>
        <p:nvSpPr>
          <p:cNvPr id="191" name="Rounded Rectangle 66">
            <a:extLst>
              <a:ext uri="{FF2B5EF4-FFF2-40B4-BE49-F238E27FC236}">
                <a16:creationId xmlns:a16="http://schemas.microsoft.com/office/drawing/2014/main" id="{1770FD7D-69EA-3DE6-0181-D4ACF265BC5F}"/>
              </a:ext>
            </a:extLst>
          </p:cNvPr>
          <p:cNvSpPr/>
          <p:nvPr/>
        </p:nvSpPr>
        <p:spPr>
          <a:xfrm>
            <a:off x="7857907" y="4401338"/>
            <a:ext cx="1234960" cy="250629"/>
          </a:xfrm>
          <a:prstGeom prst="roundRect">
            <a:avLst>
              <a:gd name="adj" fmla="val 5000"/>
            </a:avLst>
          </a:prstGeom>
          <a:solidFill>
            <a:srgbClr val="1E3A5F"/>
          </a:solidFill>
          <a:ln w="63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2" name="TextBox 191">
            <a:extLst>
              <a:ext uri="{FF2B5EF4-FFF2-40B4-BE49-F238E27FC236}">
                <a16:creationId xmlns:a16="http://schemas.microsoft.com/office/drawing/2014/main" id="{F4E39010-6A6E-39BC-BCC4-5457E9476B54}"/>
              </a:ext>
            </a:extLst>
          </p:cNvPr>
          <p:cNvSpPr txBox="1"/>
          <p:nvPr/>
        </p:nvSpPr>
        <p:spPr>
          <a:xfrm>
            <a:off x="7931241" y="4390437"/>
            <a:ext cx="1511117" cy="238527"/>
          </a:xfrm>
          <a:prstGeom prst="rect">
            <a:avLst/>
          </a:prstGeom>
          <a:noFill/>
        </p:spPr>
        <p:txBody>
          <a:bodyPr wrap="square">
            <a:spAutoFit/>
          </a:bodyPr>
          <a:lstStyle/>
          <a:p>
            <a:pPr algn="ctr"/>
            <a:r>
              <a:rPr sz="950" b="1" i="0" dirty="0">
                <a:solidFill>
                  <a:srgbClr val="FFFFFF"/>
                </a:solidFill>
              </a:rPr>
              <a:t>Viewer</a:t>
            </a:r>
          </a:p>
        </p:txBody>
      </p:sp>
      <p:sp>
        <p:nvSpPr>
          <p:cNvPr id="193" name="Rounded Rectangle 68">
            <a:extLst>
              <a:ext uri="{FF2B5EF4-FFF2-40B4-BE49-F238E27FC236}">
                <a16:creationId xmlns:a16="http://schemas.microsoft.com/office/drawing/2014/main" id="{7C4B08F9-A620-475C-2E01-4E7A5DC460E0}"/>
              </a:ext>
            </a:extLst>
          </p:cNvPr>
          <p:cNvSpPr/>
          <p:nvPr/>
        </p:nvSpPr>
        <p:spPr>
          <a:xfrm>
            <a:off x="91440" y="4740903"/>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a:extLst>
              <a:ext uri="{FF2B5EF4-FFF2-40B4-BE49-F238E27FC236}">
                <a16:creationId xmlns:a16="http://schemas.microsoft.com/office/drawing/2014/main" id="{C21BFE43-6A4C-9F3B-3517-BF8FEDCC9A73}"/>
              </a:ext>
            </a:extLst>
          </p:cNvPr>
          <p:cNvSpPr txBox="1"/>
          <p:nvPr/>
        </p:nvSpPr>
        <p:spPr>
          <a:xfrm>
            <a:off x="182880" y="4743989"/>
            <a:ext cx="3041360" cy="261610"/>
          </a:xfrm>
          <a:prstGeom prst="rect">
            <a:avLst/>
          </a:prstGeom>
          <a:noFill/>
        </p:spPr>
        <p:txBody>
          <a:bodyPr wrap="square">
            <a:spAutoFit/>
          </a:bodyPr>
          <a:lstStyle/>
          <a:p>
            <a:pPr algn="l"/>
            <a:r>
              <a:rPr sz="1100" b="0" i="0">
                <a:solidFill>
                  <a:srgbClr val="B0C4DE"/>
                </a:solidFill>
              </a:rPr>
              <a:t>Home KPI</a:t>
            </a:r>
          </a:p>
        </p:txBody>
      </p:sp>
      <p:sp>
        <p:nvSpPr>
          <p:cNvPr id="195" name="Rounded Rectangle 70">
            <a:extLst>
              <a:ext uri="{FF2B5EF4-FFF2-40B4-BE49-F238E27FC236}">
                <a16:creationId xmlns:a16="http://schemas.microsoft.com/office/drawing/2014/main" id="{EC7E5EC2-C3F6-8DB2-C2E1-B65E75770113}"/>
              </a:ext>
            </a:extLst>
          </p:cNvPr>
          <p:cNvSpPr/>
          <p:nvPr/>
        </p:nvSpPr>
        <p:spPr>
          <a:xfrm>
            <a:off x="3474720" y="4740903"/>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a:extLst>
              <a:ext uri="{FF2B5EF4-FFF2-40B4-BE49-F238E27FC236}">
                <a16:creationId xmlns:a16="http://schemas.microsoft.com/office/drawing/2014/main" id="{0AAF6A41-339E-DD40-ED34-B43572D71E32}"/>
              </a:ext>
            </a:extLst>
          </p:cNvPr>
          <p:cNvSpPr txBox="1"/>
          <p:nvPr/>
        </p:nvSpPr>
        <p:spPr>
          <a:xfrm>
            <a:off x="3566160" y="4743989"/>
            <a:ext cx="2133491" cy="261610"/>
          </a:xfrm>
          <a:prstGeom prst="rect">
            <a:avLst/>
          </a:prstGeom>
          <a:noFill/>
        </p:spPr>
        <p:txBody>
          <a:bodyPr wrap="square">
            <a:spAutoFit/>
          </a:bodyPr>
          <a:lstStyle/>
          <a:p>
            <a:pPr algn="ctr"/>
            <a:r>
              <a:rPr sz="1100" b="0" i="0">
                <a:solidFill>
                  <a:srgbClr val="06D67E"/>
                </a:solidFill>
              </a:rPr>
              <a:t>✅</a:t>
            </a:r>
          </a:p>
        </p:txBody>
      </p:sp>
      <p:sp>
        <p:nvSpPr>
          <p:cNvPr id="197" name="Rounded Rectangle 72">
            <a:extLst>
              <a:ext uri="{FF2B5EF4-FFF2-40B4-BE49-F238E27FC236}">
                <a16:creationId xmlns:a16="http://schemas.microsoft.com/office/drawing/2014/main" id="{6362E215-FADC-980C-C14E-648E7F3B442E}"/>
              </a:ext>
            </a:extLst>
          </p:cNvPr>
          <p:cNvSpPr/>
          <p:nvPr/>
        </p:nvSpPr>
        <p:spPr>
          <a:xfrm>
            <a:off x="5852160" y="4740903"/>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a:extLst>
              <a:ext uri="{FF2B5EF4-FFF2-40B4-BE49-F238E27FC236}">
                <a16:creationId xmlns:a16="http://schemas.microsoft.com/office/drawing/2014/main" id="{3FB06B39-CF3B-10EE-40DD-1CE01C0842F4}"/>
              </a:ext>
            </a:extLst>
          </p:cNvPr>
          <p:cNvSpPr txBox="1"/>
          <p:nvPr/>
        </p:nvSpPr>
        <p:spPr>
          <a:xfrm>
            <a:off x="5943600" y="4743989"/>
            <a:ext cx="2133491" cy="261610"/>
          </a:xfrm>
          <a:prstGeom prst="rect">
            <a:avLst/>
          </a:prstGeom>
          <a:noFill/>
        </p:spPr>
        <p:txBody>
          <a:bodyPr wrap="square">
            <a:spAutoFit/>
          </a:bodyPr>
          <a:lstStyle/>
          <a:p>
            <a:pPr algn="ctr"/>
            <a:r>
              <a:rPr sz="1100" b="0" i="0">
                <a:solidFill>
                  <a:srgbClr val="06D67E"/>
                </a:solidFill>
              </a:rPr>
              <a:t>✅</a:t>
            </a:r>
          </a:p>
        </p:txBody>
      </p:sp>
      <p:sp>
        <p:nvSpPr>
          <p:cNvPr id="199" name="Rounded Rectangle 74">
            <a:extLst>
              <a:ext uri="{FF2B5EF4-FFF2-40B4-BE49-F238E27FC236}">
                <a16:creationId xmlns:a16="http://schemas.microsoft.com/office/drawing/2014/main" id="{EE123653-425C-D186-DF64-AA7A869825B6}"/>
              </a:ext>
            </a:extLst>
          </p:cNvPr>
          <p:cNvSpPr/>
          <p:nvPr/>
        </p:nvSpPr>
        <p:spPr>
          <a:xfrm>
            <a:off x="8229601" y="4735099"/>
            <a:ext cx="914400" cy="192494"/>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a:extLst>
              <a:ext uri="{FF2B5EF4-FFF2-40B4-BE49-F238E27FC236}">
                <a16:creationId xmlns:a16="http://schemas.microsoft.com/office/drawing/2014/main" id="{0E6716DC-7A73-744B-2B60-141CC3B8854E}"/>
              </a:ext>
            </a:extLst>
          </p:cNvPr>
          <p:cNvSpPr txBox="1"/>
          <p:nvPr/>
        </p:nvSpPr>
        <p:spPr>
          <a:xfrm>
            <a:off x="7969776" y="4705642"/>
            <a:ext cx="1511117" cy="261610"/>
          </a:xfrm>
          <a:prstGeom prst="rect">
            <a:avLst/>
          </a:prstGeom>
          <a:noFill/>
        </p:spPr>
        <p:txBody>
          <a:bodyPr wrap="square">
            <a:spAutoFit/>
          </a:bodyPr>
          <a:lstStyle/>
          <a:p>
            <a:pPr algn="ctr"/>
            <a:r>
              <a:rPr sz="1100" b="0" i="0" dirty="0">
                <a:solidFill>
                  <a:srgbClr val="06D67E"/>
                </a:solidFill>
              </a:rPr>
              <a:t>✅</a:t>
            </a:r>
          </a:p>
        </p:txBody>
      </p:sp>
      <p:sp>
        <p:nvSpPr>
          <p:cNvPr id="201" name="Rounded Rectangle 76">
            <a:extLst>
              <a:ext uri="{FF2B5EF4-FFF2-40B4-BE49-F238E27FC236}">
                <a16:creationId xmlns:a16="http://schemas.microsoft.com/office/drawing/2014/main" id="{C9926BEA-E1ED-A3C8-947C-0D39615DB831}"/>
              </a:ext>
            </a:extLst>
          </p:cNvPr>
          <p:cNvSpPr/>
          <p:nvPr/>
        </p:nvSpPr>
        <p:spPr>
          <a:xfrm>
            <a:off x="91440" y="5079231"/>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a:extLst>
              <a:ext uri="{FF2B5EF4-FFF2-40B4-BE49-F238E27FC236}">
                <a16:creationId xmlns:a16="http://schemas.microsoft.com/office/drawing/2014/main" id="{C0B82FDB-1487-C4A0-D0F4-963FBD982DA7}"/>
              </a:ext>
            </a:extLst>
          </p:cNvPr>
          <p:cNvSpPr txBox="1"/>
          <p:nvPr/>
        </p:nvSpPr>
        <p:spPr>
          <a:xfrm>
            <a:off x="182880" y="5082317"/>
            <a:ext cx="3041360" cy="261610"/>
          </a:xfrm>
          <a:prstGeom prst="rect">
            <a:avLst/>
          </a:prstGeom>
          <a:noFill/>
        </p:spPr>
        <p:txBody>
          <a:bodyPr wrap="square">
            <a:spAutoFit/>
          </a:bodyPr>
          <a:lstStyle/>
          <a:p>
            <a:pPr algn="l"/>
            <a:r>
              <a:rPr sz="1100" b="0" i="0">
                <a:solidFill>
                  <a:srgbClr val="B0C4DE"/>
                </a:solidFill>
              </a:rPr>
              <a:t>Energy Trends</a:t>
            </a:r>
          </a:p>
        </p:txBody>
      </p:sp>
      <p:sp>
        <p:nvSpPr>
          <p:cNvPr id="203" name="Rounded Rectangle 78">
            <a:extLst>
              <a:ext uri="{FF2B5EF4-FFF2-40B4-BE49-F238E27FC236}">
                <a16:creationId xmlns:a16="http://schemas.microsoft.com/office/drawing/2014/main" id="{070EE190-FA8B-A9B6-B7A3-7B576CA4A1FD}"/>
              </a:ext>
            </a:extLst>
          </p:cNvPr>
          <p:cNvSpPr/>
          <p:nvPr/>
        </p:nvSpPr>
        <p:spPr>
          <a:xfrm>
            <a:off x="3474720" y="5079231"/>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a:extLst>
              <a:ext uri="{FF2B5EF4-FFF2-40B4-BE49-F238E27FC236}">
                <a16:creationId xmlns:a16="http://schemas.microsoft.com/office/drawing/2014/main" id="{FB4AEDE8-2062-83CD-71EC-24FDCB9B7C5F}"/>
              </a:ext>
            </a:extLst>
          </p:cNvPr>
          <p:cNvSpPr txBox="1"/>
          <p:nvPr/>
        </p:nvSpPr>
        <p:spPr>
          <a:xfrm>
            <a:off x="3566160" y="5082317"/>
            <a:ext cx="2133491" cy="261610"/>
          </a:xfrm>
          <a:prstGeom prst="rect">
            <a:avLst/>
          </a:prstGeom>
          <a:noFill/>
        </p:spPr>
        <p:txBody>
          <a:bodyPr wrap="square">
            <a:spAutoFit/>
          </a:bodyPr>
          <a:lstStyle/>
          <a:p>
            <a:pPr algn="ctr"/>
            <a:r>
              <a:rPr sz="1100" b="0" i="0">
                <a:solidFill>
                  <a:srgbClr val="06D67E"/>
                </a:solidFill>
              </a:rPr>
              <a:t>✅</a:t>
            </a:r>
          </a:p>
        </p:txBody>
      </p:sp>
      <p:sp>
        <p:nvSpPr>
          <p:cNvPr id="205" name="Rounded Rectangle 80">
            <a:extLst>
              <a:ext uri="{FF2B5EF4-FFF2-40B4-BE49-F238E27FC236}">
                <a16:creationId xmlns:a16="http://schemas.microsoft.com/office/drawing/2014/main" id="{20A10A76-46A4-1BDD-C97B-8D8801FA5756}"/>
              </a:ext>
            </a:extLst>
          </p:cNvPr>
          <p:cNvSpPr/>
          <p:nvPr/>
        </p:nvSpPr>
        <p:spPr>
          <a:xfrm>
            <a:off x="5852160" y="5079231"/>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a:extLst>
              <a:ext uri="{FF2B5EF4-FFF2-40B4-BE49-F238E27FC236}">
                <a16:creationId xmlns:a16="http://schemas.microsoft.com/office/drawing/2014/main" id="{1EED493E-A59C-1F71-3928-330324B760CB}"/>
              </a:ext>
            </a:extLst>
          </p:cNvPr>
          <p:cNvSpPr txBox="1"/>
          <p:nvPr/>
        </p:nvSpPr>
        <p:spPr>
          <a:xfrm>
            <a:off x="5943600" y="5082317"/>
            <a:ext cx="2133491" cy="261610"/>
          </a:xfrm>
          <a:prstGeom prst="rect">
            <a:avLst/>
          </a:prstGeom>
          <a:noFill/>
        </p:spPr>
        <p:txBody>
          <a:bodyPr wrap="square">
            <a:spAutoFit/>
          </a:bodyPr>
          <a:lstStyle/>
          <a:p>
            <a:pPr algn="ctr"/>
            <a:r>
              <a:rPr sz="1100" b="0" i="0">
                <a:solidFill>
                  <a:srgbClr val="06D67E"/>
                </a:solidFill>
              </a:rPr>
              <a:t>✅</a:t>
            </a:r>
          </a:p>
        </p:txBody>
      </p:sp>
      <p:sp>
        <p:nvSpPr>
          <p:cNvPr id="207" name="Rounded Rectangle 82">
            <a:extLst>
              <a:ext uri="{FF2B5EF4-FFF2-40B4-BE49-F238E27FC236}">
                <a16:creationId xmlns:a16="http://schemas.microsoft.com/office/drawing/2014/main" id="{72161425-D9E2-2F11-6285-3569C4618113}"/>
              </a:ext>
            </a:extLst>
          </p:cNvPr>
          <p:cNvSpPr/>
          <p:nvPr/>
        </p:nvSpPr>
        <p:spPr>
          <a:xfrm>
            <a:off x="8229600" y="5093901"/>
            <a:ext cx="900031" cy="172019"/>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a:extLst>
              <a:ext uri="{FF2B5EF4-FFF2-40B4-BE49-F238E27FC236}">
                <a16:creationId xmlns:a16="http://schemas.microsoft.com/office/drawing/2014/main" id="{64E9B94E-2F1F-28E2-817D-13653132D3DD}"/>
              </a:ext>
            </a:extLst>
          </p:cNvPr>
          <p:cNvSpPr txBox="1"/>
          <p:nvPr/>
        </p:nvSpPr>
        <p:spPr>
          <a:xfrm>
            <a:off x="8321040" y="5067245"/>
            <a:ext cx="808591" cy="261610"/>
          </a:xfrm>
          <a:prstGeom prst="rect">
            <a:avLst/>
          </a:prstGeom>
          <a:noFill/>
        </p:spPr>
        <p:txBody>
          <a:bodyPr wrap="square">
            <a:spAutoFit/>
          </a:bodyPr>
          <a:lstStyle/>
          <a:p>
            <a:pPr algn="ctr"/>
            <a:r>
              <a:rPr sz="1100" b="0" i="0">
                <a:solidFill>
                  <a:srgbClr val="06D67E"/>
                </a:solidFill>
              </a:rPr>
              <a:t>✅</a:t>
            </a:r>
          </a:p>
        </p:txBody>
      </p:sp>
      <p:sp>
        <p:nvSpPr>
          <p:cNvPr id="209" name="Rounded Rectangle 84">
            <a:extLst>
              <a:ext uri="{FF2B5EF4-FFF2-40B4-BE49-F238E27FC236}">
                <a16:creationId xmlns:a16="http://schemas.microsoft.com/office/drawing/2014/main" id="{E0418D67-CFA9-75E4-9910-1FC275EB2ED1}"/>
              </a:ext>
            </a:extLst>
          </p:cNvPr>
          <p:cNvSpPr/>
          <p:nvPr/>
        </p:nvSpPr>
        <p:spPr>
          <a:xfrm>
            <a:off x="91440" y="5417559"/>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a:extLst>
              <a:ext uri="{FF2B5EF4-FFF2-40B4-BE49-F238E27FC236}">
                <a16:creationId xmlns:a16="http://schemas.microsoft.com/office/drawing/2014/main" id="{2DFE2FC3-4D1C-E4F7-DB6E-69645A541813}"/>
              </a:ext>
            </a:extLst>
          </p:cNvPr>
          <p:cNvSpPr txBox="1"/>
          <p:nvPr/>
        </p:nvSpPr>
        <p:spPr>
          <a:xfrm>
            <a:off x="182880" y="5420645"/>
            <a:ext cx="3041360" cy="261610"/>
          </a:xfrm>
          <a:prstGeom prst="rect">
            <a:avLst/>
          </a:prstGeom>
          <a:noFill/>
        </p:spPr>
        <p:txBody>
          <a:bodyPr wrap="square">
            <a:spAutoFit/>
          </a:bodyPr>
          <a:lstStyle/>
          <a:p>
            <a:pPr algn="l"/>
            <a:r>
              <a:rPr sz="1100" b="0" i="0">
                <a:solidFill>
                  <a:srgbClr val="B0C4DE"/>
                </a:solidFill>
              </a:rPr>
              <a:t>Anomaly Insights</a:t>
            </a:r>
          </a:p>
        </p:txBody>
      </p:sp>
      <p:sp>
        <p:nvSpPr>
          <p:cNvPr id="211" name="Rounded Rectangle 86">
            <a:extLst>
              <a:ext uri="{FF2B5EF4-FFF2-40B4-BE49-F238E27FC236}">
                <a16:creationId xmlns:a16="http://schemas.microsoft.com/office/drawing/2014/main" id="{44BA3D59-E2F1-A066-C117-7F51444675BD}"/>
              </a:ext>
            </a:extLst>
          </p:cNvPr>
          <p:cNvSpPr/>
          <p:nvPr/>
        </p:nvSpPr>
        <p:spPr>
          <a:xfrm>
            <a:off x="3474720" y="5417559"/>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a:extLst>
              <a:ext uri="{FF2B5EF4-FFF2-40B4-BE49-F238E27FC236}">
                <a16:creationId xmlns:a16="http://schemas.microsoft.com/office/drawing/2014/main" id="{78AEA2A7-CCC9-D761-7ECE-09C567E4E87B}"/>
              </a:ext>
            </a:extLst>
          </p:cNvPr>
          <p:cNvSpPr txBox="1"/>
          <p:nvPr/>
        </p:nvSpPr>
        <p:spPr>
          <a:xfrm>
            <a:off x="3566160" y="5420645"/>
            <a:ext cx="2133491" cy="261610"/>
          </a:xfrm>
          <a:prstGeom prst="rect">
            <a:avLst/>
          </a:prstGeom>
          <a:noFill/>
        </p:spPr>
        <p:txBody>
          <a:bodyPr wrap="square">
            <a:spAutoFit/>
          </a:bodyPr>
          <a:lstStyle/>
          <a:p>
            <a:pPr algn="ctr"/>
            <a:r>
              <a:rPr sz="1100" b="0" i="0">
                <a:solidFill>
                  <a:srgbClr val="06D67E"/>
                </a:solidFill>
              </a:rPr>
              <a:t>✅</a:t>
            </a:r>
          </a:p>
        </p:txBody>
      </p:sp>
      <p:sp>
        <p:nvSpPr>
          <p:cNvPr id="213" name="Rounded Rectangle 88">
            <a:extLst>
              <a:ext uri="{FF2B5EF4-FFF2-40B4-BE49-F238E27FC236}">
                <a16:creationId xmlns:a16="http://schemas.microsoft.com/office/drawing/2014/main" id="{2BEBF14F-AB2C-6454-05B3-C90AE3816C03}"/>
              </a:ext>
            </a:extLst>
          </p:cNvPr>
          <p:cNvSpPr/>
          <p:nvPr/>
        </p:nvSpPr>
        <p:spPr>
          <a:xfrm>
            <a:off x="5852160" y="5417559"/>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a:extLst>
              <a:ext uri="{FF2B5EF4-FFF2-40B4-BE49-F238E27FC236}">
                <a16:creationId xmlns:a16="http://schemas.microsoft.com/office/drawing/2014/main" id="{C66EE6C2-C6DD-544E-ED66-53F0A3672C6C}"/>
              </a:ext>
            </a:extLst>
          </p:cNvPr>
          <p:cNvSpPr txBox="1"/>
          <p:nvPr/>
        </p:nvSpPr>
        <p:spPr>
          <a:xfrm>
            <a:off x="5943600" y="5420645"/>
            <a:ext cx="2133491" cy="261610"/>
          </a:xfrm>
          <a:prstGeom prst="rect">
            <a:avLst/>
          </a:prstGeom>
          <a:noFill/>
        </p:spPr>
        <p:txBody>
          <a:bodyPr wrap="square">
            <a:spAutoFit/>
          </a:bodyPr>
          <a:lstStyle/>
          <a:p>
            <a:pPr algn="ctr"/>
            <a:r>
              <a:rPr sz="1100" b="0" i="0">
                <a:solidFill>
                  <a:srgbClr val="06D67E"/>
                </a:solidFill>
              </a:rPr>
              <a:t>✅</a:t>
            </a:r>
          </a:p>
        </p:txBody>
      </p:sp>
      <p:sp>
        <p:nvSpPr>
          <p:cNvPr id="215" name="Rounded Rectangle 90">
            <a:extLst>
              <a:ext uri="{FF2B5EF4-FFF2-40B4-BE49-F238E27FC236}">
                <a16:creationId xmlns:a16="http://schemas.microsoft.com/office/drawing/2014/main" id="{1C14E2F6-7778-5F19-B475-014F2DE48922}"/>
              </a:ext>
            </a:extLst>
          </p:cNvPr>
          <p:cNvSpPr/>
          <p:nvPr/>
        </p:nvSpPr>
        <p:spPr>
          <a:xfrm>
            <a:off x="8229600" y="5390502"/>
            <a:ext cx="900031" cy="213747"/>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6" name="TextBox 215">
            <a:extLst>
              <a:ext uri="{FF2B5EF4-FFF2-40B4-BE49-F238E27FC236}">
                <a16:creationId xmlns:a16="http://schemas.microsoft.com/office/drawing/2014/main" id="{9241134E-6CB0-4AAA-C307-9E8018D344F4}"/>
              </a:ext>
            </a:extLst>
          </p:cNvPr>
          <p:cNvSpPr txBox="1"/>
          <p:nvPr/>
        </p:nvSpPr>
        <p:spPr>
          <a:xfrm>
            <a:off x="7918138" y="5364760"/>
            <a:ext cx="1703667" cy="261610"/>
          </a:xfrm>
          <a:prstGeom prst="rect">
            <a:avLst/>
          </a:prstGeom>
          <a:noFill/>
        </p:spPr>
        <p:txBody>
          <a:bodyPr wrap="square">
            <a:spAutoFit/>
          </a:bodyPr>
          <a:lstStyle/>
          <a:p>
            <a:pPr algn="ctr"/>
            <a:r>
              <a:rPr sz="1100" b="0" i="0" dirty="0">
                <a:solidFill>
                  <a:srgbClr val="06D67E"/>
                </a:solidFill>
              </a:rPr>
              <a:t>✅</a:t>
            </a:r>
          </a:p>
        </p:txBody>
      </p:sp>
      <p:sp>
        <p:nvSpPr>
          <p:cNvPr id="217" name="Rounded Rectangle 92">
            <a:extLst>
              <a:ext uri="{FF2B5EF4-FFF2-40B4-BE49-F238E27FC236}">
                <a16:creationId xmlns:a16="http://schemas.microsoft.com/office/drawing/2014/main" id="{9E736DE9-1EF8-554D-9713-D824C3E85EFF}"/>
              </a:ext>
            </a:extLst>
          </p:cNvPr>
          <p:cNvSpPr/>
          <p:nvPr/>
        </p:nvSpPr>
        <p:spPr>
          <a:xfrm>
            <a:off x="91440" y="5755887"/>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TextBox 217">
            <a:extLst>
              <a:ext uri="{FF2B5EF4-FFF2-40B4-BE49-F238E27FC236}">
                <a16:creationId xmlns:a16="http://schemas.microsoft.com/office/drawing/2014/main" id="{E349672F-76F9-D258-0A96-DBB097C3FC63}"/>
              </a:ext>
            </a:extLst>
          </p:cNvPr>
          <p:cNvSpPr txBox="1"/>
          <p:nvPr/>
        </p:nvSpPr>
        <p:spPr>
          <a:xfrm>
            <a:off x="182880" y="5758973"/>
            <a:ext cx="3041360" cy="261610"/>
          </a:xfrm>
          <a:prstGeom prst="rect">
            <a:avLst/>
          </a:prstGeom>
          <a:noFill/>
        </p:spPr>
        <p:txBody>
          <a:bodyPr wrap="square">
            <a:spAutoFit/>
          </a:bodyPr>
          <a:lstStyle/>
          <a:p>
            <a:pPr algn="l"/>
            <a:r>
              <a:rPr sz="1100" b="0" i="0">
                <a:solidFill>
                  <a:srgbClr val="B0C4DE"/>
                </a:solidFill>
              </a:rPr>
              <a:t>Forecasting</a:t>
            </a:r>
          </a:p>
        </p:txBody>
      </p:sp>
      <p:sp>
        <p:nvSpPr>
          <p:cNvPr id="219" name="Rounded Rectangle 94">
            <a:extLst>
              <a:ext uri="{FF2B5EF4-FFF2-40B4-BE49-F238E27FC236}">
                <a16:creationId xmlns:a16="http://schemas.microsoft.com/office/drawing/2014/main" id="{B4C934E6-0E72-B509-BD53-CAE02852D3D6}"/>
              </a:ext>
            </a:extLst>
          </p:cNvPr>
          <p:cNvSpPr/>
          <p:nvPr/>
        </p:nvSpPr>
        <p:spPr>
          <a:xfrm>
            <a:off x="3474720" y="5755887"/>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a:extLst>
              <a:ext uri="{FF2B5EF4-FFF2-40B4-BE49-F238E27FC236}">
                <a16:creationId xmlns:a16="http://schemas.microsoft.com/office/drawing/2014/main" id="{D7F4FF35-3490-3214-D8A9-756DEAF7886F}"/>
              </a:ext>
            </a:extLst>
          </p:cNvPr>
          <p:cNvSpPr txBox="1"/>
          <p:nvPr/>
        </p:nvSpPr>
        <p:spPr>
          <a:xfrm>
            <a:off x="3566160" y="5758973"/>
            <a:ext cx="2133491" cy="261610"/>
          </a:xfrm>
          <a:prstGeom prst="rect">
            <a:avLst/>
          </a:prstGeom>
          <a:noFill/>
        </p:spPr>
        <p:txBody>
          <a:bodyPr wrap="square">
            <a:spAutoFit/>
          </a:bodyPr>
          <a:lstStyle/>
          <a:p>
            <a:pPr algn="ctr"/>
            <a:r>
              <a:rPr sz="1100" b="0" i="0">
                <a:solidFill>
                  <a:srgbClr val="06D67E"/>
                </a:solidFill>
              </a:rPr>
              <a:t>✅</a:t>
            </a:r>
          </a:p>
        </p:txBody>
      </p:sp>
      <p:sp>
        <p:nvSpPr>
          <p:cNvPr id="221" name="Rounded Rectangle 96">
            <a:extLst>
              <a:ext uri="{FF2B5EF4-FFF2-40B4-BE49-F238E27FC236}">
                <a16:creationId xmlns:a16="http://schemas.microsoft.com/office/drawing/2014/main" id="{44E2153E-547F-2F6D-465D-1294BD779A71}"/>
              </a:ext>
            </a:extLst>
          </p:cNvPr>
          <p:cNvSpPr/>
          <p:nvPr/>
        </p:nvSpPr>
        <p:spPr>
          <a:xfrm>
            <a:off x="5852160" y="5755887"/>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a:extLst>
              <a:ext uri="{FF2B5EF4-FFF2-40B4-BE49-F238E27FC236}">
                <a16:creationId xmlns:a16="http://schemas.microsoft.com/office/drawing/2014/main" id="{25A8CAB2-706C-E5DA-DB74-86B49DA106EB}"/>
              </a:ext>
            </a:extLst>
          </p:cNvPr>
          <p:cNvSpPr txBox="1"/>
          <p:nvPr/>
        </p:nvSpPr>
        <p:spPr>
          <a:xfrm>
            <a:off x="5943600" y="5758973"/>
            <a:ext cx="2133491" cy="261610"/>
          </a:xfrm>
          <a:prstGeom prst="rect">
            <a:avLst/>
          </a:prstGeom>
          <a:noFill/>
        </p:spPr>
        <p:txBody>
          <a:bodyPr wrap="square">
            <a:spAutoFit/>
          </a:bodyPr>
          <a:lstStyle/>
          <a:p>
            <a:pPr algn="ctr"/>
            <a:r>
              <a:rPr sz="1100" b="0" i="0">
                <a:solidFill>
                  <a:srgbClr val="06D67E"/>
                </a:solidFill>
              </a:rPr>
              <a:t>✅</a:t>
            </a:r>
          </a:p>
        </p:txBody>
      </p:sp>
      <p:sp>
        <p:nvSpPr>
          <p:cNvPr id="223" name="Rounded Rectangle 98">
            <a:extLst>
              <a:ext uri="{FF2B5EF4-FFF2-40B4-BE49-F238E27FC236}">
                <a16:creationId xmlns:a16="http://schemas.microsoft.com/office/drawing/2014/main" id="{B66A2BB8-8FBB-D7B4-5935-DA448F8625F4}"/>
              </a:ext>
            </a:extLst>
          </p:cNvPr>
          <p:cNvSpPr/>
          <p:nvPr/>
        </p:nvSpPr>
        <p:spPr>
          <a:xfrm>
            <a:off x="8229600" y="5716361"/>
            <a:ext cx="900031" cy="226216"/>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a:extLst>
              <a:ext uri="{FF2B5EF4-FFF2-40B4-BE49-F238E27FC236}">
                <a16:creationId xmlns:a16="http://schemas.microsoft.com/office/drawing/2014/main" id="{DE24B54B-2B1C-D1EA-1AEC-B6D176B4D008}"/>
              </a:ext>
            </a:extLst>
          </p:cNvPr>
          <p:cNvSpPr txBox="1"/>
          <p:nvPr/>
        </p:nvSpPr>
        <p:spPr>
          <a:xfrm>
            <a:off x="8274340" y="5741299"/>
            <a:ext cx="991471" cy="261610"/>
          </a:xfrm>
          <a:prstGeom prst="rect">
            <a:avLst/>
          </a:prstGeom>
          <a:noFill/>
        </p:spPr>
        <p:txBody>
          <a:bodyPr wrap="square">
            <a:spAutoFit/>
          </a:bodyPr>
          <a:lstStyle/>
          <a:p>
            <a:pPr algn="ctr"/>
            <a:r>
              <a:rPr sz="1100" b="0" i="0" dirty="0">
                <a:solidFill>
                  <a:srgbClr val="FF4D4D"/>
                </a:solidFill>
              </a:rPr>
              <a:t>❌</a:t>
            </a:r>
          </a:p>
        </p:txBody>
      </p:sp>
      <p:sp>
        <p:nvSpPr>
          <p:cNvPr id="225" name="Rounded Rectangle 100">
            <a:extLst>
              <a:ext uri="{FF2B5EF4-FFF2-40B4-BE49-F238E27FC236}">
                <a16:creationId xmlns:a16="http://schemas.microsoft.com/office/drawing/2014/main" id="{E7AD08F4-3173-0E1B-D1B7-D33BC12ECF4E}"/>
              </a:ext>
            </a:extLst>
          </p:cNvPr>
          <p:cNvSpPr/>
          <p:nvPr/>
        </p:nvSpPr>
        <p:spPr>
          <a:xfrm>
            <a:off x="91440" y="6094215"/>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TextBox 225">
            <a:extLst>
              <a:ext uri="{FF2B5EF4-FFF2-40B4-BE49-F238E27FC236}">
                <a16:creationId xmlns:a16="http://schemas.microsoft.com/office/drawing/2014/main" id="{1D47F2BE-04B3-9CE4-D197-21EF243A2FB4}"/>
              </a:ext>
            </a:extLst>
          </p:cNvPr>
          <p:cNvSpPr txBox="1"/>
          <p:nvPr/>
        </p:nvSpPr>
        <p:spPr>
          <a:xfrm>
            <a:off x="182880" y="6097301"/>
            <a:ext cx="3041360" cy="261610"/>
          </a:xfrm>
          <a:prstGeom prst="rect">
            <a:avLst/>
          </a:prstGeom>
          <a:noFill/>
        </p:spPr>
        <p:txBody>
          <a:bodyPr wrap="square">
            <a:spAutoFit/>
          </a:bodyPr>
          <a:lstStyle/>
          <a:p>
            <a:pPr algn="l"/>
            <a:r>
              <a:rPr sz="1100" b="0" i="0">
                <a:solidFill>
                  <a:srgbClr val="B0C4DE"/>
                </a:solidFill>
              </a:rPr>
              <a:t>Carbon Analytics</a:t>
            </a:r>
          </a:p>
        </p:txBody>
      </p:sp>
      <p:sp>
        <p:nvSpPr>
          <p:cNvPr id="227" name="Rounded Rectangle 102">
            <a:extLst>
              <a:ext uri="{FF2B5EF4-FFF2-40B4-BE49-F238E27FC236}">
                <a16:creationId xmlns:a16="http://schemas.microsoft.com/office/drawing/2014/main" id="{CF887E38-EAEC-4F97-00B2-F4AEB7F17CAE}"/>
              </a:ext>
            </a:extLst>
          </p:cNvPr>
          <p:cNvSpPr/>
          <p:nvPr/>
        </p:nvSpPr>
        <p:spPr>
          <a:xfrm>
            <a:off x="3474720" y="6094215"/>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a:extLst>
              <a:ext uri="{FF2B5EF4-FFF2-40B4-BE49-F238E27FC236}">
                <a16:creationId xmlns:a16="http://schemas.microsoft.com/office/drawing/2014/main" id="{5D93ABED-1F42-2F83-3DD4-90B9D1A70810}"/>
              </a:ext>
            </a:extLst>
          </p:cNvPr>
          <p:cNvSpPr txBox="1"/>
          <p:nvPr/>
        </p:nvSpPr>
        <p:spPr>
          <a:xfrm>
            <a:off x="3566160" y="6097301"/>
            <a:ext cx="2133491" cy="261610"/>
          </a:xfrm>
          <a:prstGeom prst="rect">
            <a:avLst/>
          </a:prstGeom>
          <a:noFill/>
        </p:spPr>
        <p:txBody>
          <a:bodyPr wrap="square">
            <a:spAutoFit/>
          </a:bodyPr>
          <a:lstStyle/>
          <a:p>
            <a:pPr algn="ctr"/>
            <a:r>
              <a:rPr sz="1100" b="0" i="0">
                <a:solidFill>
                  <a:srgbClr val="06D67E"/>
                </a:solidFill>
              </a:rPr>
              <a:t>✅</a:t>
            </a:r>
          </a:p>
        </p:txBody>
      </p:sp>
      <p:sp>
        <p:nvSpPr>
          <p:cNvPr id="229" name="Rounded Rectangle 104">
            <a:extLst>
              <a:ext uri="{FF2B5EF4-FFF2-40B4-BE49-F238E27FC236}">
                <a16:creationId xmlns:a16="http://schemas.microsoft.com/office/drawing/2014/main" id="{8981C6B6-44BD-FE4C-F6BB-5515262F5942}"/>
              </a:ext>
            </a:extLst>
          </p:cNvPr>
          <p:cNvSpPr/>
          <p:nvPr/>
        </p:nvSpPr>
        <p:spPr>
          <a:xfrm>
            <a:off x="5852160" y="6094215"/>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TextBox 229">
            <a:extLst>
              <a:ext uri="{FF2B5EF4-FFF2-40B4-BE49-F238E27FC236}">
                <a16:creationId xmlns:a16="http://schemas.microsoft.com/office/drawing/2014/main" id="{E6551490-C690-E24F-A999-AA4127D752C2}"/>
              </a:ext>
            </a:extLst>
          </p:cNvPr>
          <p:cNvSpPr txBox="1"/>
          <p:nvPr/>
        </p:nvSpPr>
        <p:spPr>
          <a:xfrm>
            <a:off x="5943600" y="6097301"/>
            <a:ext cx="2133491" cy="261610"/>
          </a:xfrm>
          <a:prstGeom prst="rect">
            <a:avLst/>
          </a:prstGeom>
          <a:noFill/>
        </p:spPr>
        <p:txBody>
          <a:bodyPr wrap="square">
            <a:spAutoFit/>
          </a:bodyPr>
          <a:lstStyle/>
          <a:p>
            <a:pPr algn="ctr"/>
            <a:r>
              <a:rPr sz="1100" b="0" i="0">
                <a:solidFill>
                  <a:srgbClr val="06D67E"/>
                </a:solidFill>
              </a:rPr>
              <a:t>✅</a:t>
            </a:r>
          </a:p>
        </p:txBody>
      </p:sp>
      <p:sp>
        <p:nvSpPr>
          <p:cNvPr id="231" name="Rounded Rectangle 106">
            <a:extLst>
              <a:ext uri="{FF2B5EF4-FFF2-40B4-BE49-F238E27FC236}">
                <a16:creationId xmlns:a16="http://schemas.microsoft.com/office/drawing/2014/main" id="{48CE1AD5-F137-B133-9E0E-91B58A4CF11F}"/>
              </a:ext>
            </a:extLst>
          </p:cNvPr>
          <p:cNvSpPr/>
          <p:nvPr/>
        </p:nvSpPr>
        <p:spPr>
          <a:xfrm>
            <a:off x="8229600" y="6026346"/>
            <a:ext cx="938115" cy="25456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2" name="TextBox 231">
            <a:extLst>
              <a:ext uri="{FF2B5EF4-FFF2-40B4-BE49-F238E27FC236}">
                <a16:creationId xmlns:a16="http://schemas.microsoft.com/office/drawing/2014/main" id="{E10924E6-99E3-2EBB-0897-CAEECDDDDE54}"/>
              </a:ext>
            </a:extLst>
          </p:cNvPr>
          <p:cNvSpPr txBox="1"/>
          <p:nvPr/>
        </p:nvSpPr>
        <p:spPr>
          <a:xfrm>
            <a:off x="8321041" y="6013935"/>
            <a:ext cx="846674" cy="261610"/>
          </a:xfrm>
          <a:prstGeom prst="rect">
            <a:avLst/>
          </a:prstGeom>
          <a:noFill/>
        </p:spPr>
        <p:txBody>
          <a:bodyPr wrap="square">
            <a:spAutoFit/>
          </a:bodyPr>
          <a:lstStyle/>
          <a:p>
            <a:pPr algn="ctr"/>
            <a:r>
              <a:rPr sz="1100" b="0" i="0" dirty="0">
                <a:solidFill>
                  <a:srgbClr val="FF4D4D"/>
                </a:solidFill>
              </a:rPr>
              <a:t>❌</a:t>
            </a:r>
          </a:p>
        </p:txBody>
      </p:sp>
      <p:sp>
        <p:nvSpPr>
          <p:cNvPr id="233" name="Rounded Rectangle 108">
            <a:extLst>
              <a:ext uri="{FF2B5EF4-FFF2-40B4-BE49-F238E27FC236}">
                <a16:creationId xmlns:a16="http://schemas.microsoft.com/office/drawing/2014/main" id="{176F2509-2B47-AC38-4AE9-63E10CD2E12C}"/>
              </a:ext>
            </a:extLst>
          </p:cNvPr>
          <p:cNvSpPr/>
          <p:nvPr/>
        </p:nvSpPr>
        <p:spPr>
          <a:xfrm>
            <a:off x="91440" y="6432543"/>
            <a:ext cx="3177540"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a:extLst>
              <a:ext uri="{FF2B5EF4-FFF2-40B4-BE49-F238E27FC236}">
                <a16:creationId xmlns:a16="http://schemas.microsoft.com/office/drawing/2014/main" id="{2E939A8C-3C40-5CB7-0F55-B17203E6DA67}"/>
              </a:ext>
            </a:extLst>
          </p:cNvPr>
          <p:cNvSpPr txBox="1"/>
          <p:nvPr/>
        </p:nvSpPr>
        <p:spPr>
          <a:xfrm>
            <a:off x="182880" y="6435629"/>
            <a:ext cx="3041360" cy="261610"/>
          </a:xfrm>
          <a:prstGeom prst="rect">
            <a:avLst/>
          </a:prstGeom>
          <a:noFill/>
        </p:spPr>
        <p:txBody>
          <a:bodyPr wrap="square">
            <a:spAutoFit/>
          </a:bodyPr>
          <a:lstStyle/>
          <a:p>
            <a:pPr algn="l"/>
            <a:r>
              <a:rPr sz="1100" b="0" i="0">
                <a:solidFill>
                  <a:srgbClr val="B0C4DE"/>
                </a:solidFill>
              </a:rPr>
              <a:t>Power BI / Reports</a:t>
            </a:r>
          </a:p>
        </p:txBody>
      </p:sp>
      <p:sp>
        <p:nvSpPr>
          <p:cNvPr id="235" name="Rounded Rectangle 110">
            <a:extLst>
              <a:ext uri="{FF2B5EF4-FFF2-40B4-BE49-F238E27FC236}">
                <a16:creationId xmlns:a16="http://schemas.microsoft.com/office/drawing/2014/main" id="{9908D42E-FBC1-3517-F90E-F02996EC6995}"/>
              </a:ext>
            </a:extLst>
          </p:cNvPr>
          <p:cNvSpPr/>
          <p:nvPr/>
        </p:nvSpPr>
        <p:spPr>
          <a:xfrm>
            <a:off x="3474720" y="6432543"/>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TextBox 235">
            <a:extLst>
              <a:ext uri="{FF2B5EF4-FFF2-40B4-BE49-F238E27FC236}">
                <a16:creationId xmlns:a16="http://schemas.microsoft.com/office/drawing/2014/main" id="{45DF21A8-FB8A-709C-32AD-EA94398C55A7}"/>
              </a:ext>
            </a:extLst>
          </p:cNvPr>
          <p:cNvSpPr txBox="1"/>
          <p:nvPr/>
        </p:nvSpPr>
        <p:spPr>
          <a:xfrm>
            <a:off x="3566160" y="6435629"/>
            <a:ext cx="2133491" cy="261610"/>
          </a:xfrm>
          <a:prstGeom prst="rect">
            <a:avLst/>
          </a:prstGeom>
          <a:noFill/>
        </p:spPr>
        <p:txBody>
          <a:bodyPr wrap="square">
            <a:spAutoFit/>
          </a:bodyPr>
          <a:lstStyle/>
          <a:p>
            <a:pPr algn="ctr"/>
            <a:r>
              <a:rPr sz="1100" b="0" i="0">
                <a:solidFill>
                  <a:srgbClr val="06D67E"/>
                </a:solidFill>
              </a:rPr>
              <a:t>✅</a:t>
            </a:r>
          </a:p>
        </p:txBody>
      </p:sp>
      <p:sp>
        <p:nvSpPr>
          <p:cNvPr id="237" name="Rounded Rectangle 112">
            <a:extLst>
              <a:ext uri="{FF2B5EF4-FFF2-40B4-BE49-F238E27FC236}">
                <a16:creationId xmlns:a16="http://schemas.microsoft.com/office/drawing/2014/main" id="{36673201-3C82-4E63-5197-BD956B3111D9}"/>
              </a:ext>
            </a:extLst>
          </p:cNvPr>
          <p:cNvSpPr/>
          <p:nvPr/>
        </p:nvSpPr>
        <p:spPr>
          <a:xfrm>
            <a:off x="5852160" y="6432543"/>
            <a:ext cx="2269671" cy="186690"/>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TextBox 237">
            <a:extLst>
              <a:ext uri="{FF2B5EF4-FFF2-40B4-BE49-F238E27FC236}">
                <a16:creationId xmlns:a16="http://schemas.microsoft.com/office/drawing/2014/main" id="{82A1A830-62C6-8E35-8D23-58FFC8940567}"/>
              </a:ext>
            </a:extLst>
          </p:cNvPr>
          <p:cNvSpPr txBox="1"/>
          <p:nvPr/>
        </p:nvSpPr>
        <p:spPr>
          <a:xfrm>
            <a:off x="5943600" y="6435629"/>
            <a:ext cx="2133491" cy="261610"/>
          </a:xfrm>
          <a:prstGeom prst="rect">
            <a:avLst/>
          </a:prstGeom>
          <a:noFill/>
        </p:spPr>
        <p:txBody>
          <a:bodyPr wrap="square">
            <a:spAutoFit/>
          </a:bodyPr>
          <a:lstStyle/>
          <a:p>
            <a:pPr algn="ctr"/>
            <a:r>
              <a:rPr sz="1100" b="0" i="0">
                <a:solidFill>
                  <a:srgbClr val="FF4D4D"/>
                </a:solidFill>
              </a:rPr>
              <a:t>❌</a:t>
            </a:r>
          </a:p>
        </p:txBody>
      </p:sp>
      <p:sp>
        <p:nvSpPr>
          <p:cNvPr id="239" name="Rounded Rectangle 114">
            <a:extLst>
              <a:ext uri="{FF2B5EF4-FFF2-40B4-BE49-F238E27FC236}">
                <a16:creationId xmlns:a16="http://schemas.microsoft.com/office/drawing/2014/main" id="{280EA702-52A9-4830-E139-5A7ABD3CDC8D}"/>
              </a:ext>
            </a:extLst>
          </p:cNvPr>
          <p:cNvSpPr/>
          <p:nvPr/>
        </p:nvSpPr>
        <p:spPr>
          <a:xfrm>
            <a:off x="8229601" y="6364272"/>
            <a:ext cx="900030" cy="252917"/>
          </a:xfrm>
          <a:prstGeom prst="roundRect">
            <a:avLst>
              <a:gd name="adj" fmla="val 5000"/>
            </a:avLst>
          </a:prstGeom>
          <a:solidFill>
            <a:srgbClr val="162C4A"/>
          </a:solidFill>
          <a:ln w="63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239">
            <a:extLst>
              <a:ext uri="{FF2B5EF4-FFF2-40B4-BE49-F238E27FC236}">
                <a16:creationId xmlns:a16="http://schemas.microsoft.com/office/drawing/2014/main" id="{F48E1130-60E9-E7C6-529B-41857218F99C}"/>
              </a:ext>
            </a:extLst>
          </p:cNvPr>
          <p:cNvSpPr txBox="1"/>
          <p:nvPr/>
        </p:nvSpPr>
        <p:spPr>
          <a:xfrm>
            <a:off x="8321040" y="6358911"/>
            <a:ext cx="938115" cy="261610"/>
          </a:xfrm>
          <a:prstGeom prst="rect">
            <a:avLst/>
          </a:prstGeom>
          <a:noFill/>
        </p:spPr>
        <p:txBody>
          <a:bodyPr wrap="square">
            <a:spAutoFit/>
          </a:bodyPr>
          <a:lstStyle/>
          <a:p>
            <a:pPr algn="ctr"/>
            <a:r>
              <a:rPr sz="1100" b="0" i="0" dirty="0">
                <a:solidFill>
                  <a:srgbClr val="FF4D4D"/>
                </a:solidFill>
              </a:rPr>
              <a:t>❌</a:t>
            </a:r>
          </a:p>
        </p:txBody>
      </p:sp>
    </p:spTree>
    <p:extLst>
      <p:ext uri="{BB962C8B-B14F-4D97-AF65-F5344CB8AC3E}">
        <p14:creationId xmlns:p14="http://schemas.microsoft.com/office/powerpoint/2010/main" val="238706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3E99-8B11-9CFB-3E20-52F6D67583C4}"/>
              </a:ext>
            </a:extLst>
          </p:cNvPr>
          <p:cNvSpPr>
            <a:spLocks noGrp="1"/>
          </p:cNvSpPr>
          <p:nvPr>
            <p:ph type="title"/>
          </p:nvPr>
        </p:nvSpPr>
        <p:spPr>
          <a:xfrm>
            <a:off x="457200" y="160337"/>
            <a:ext cx="8229600" cy="1143000"/>
          </a:xfrm>
        </p:spPr>
        <p:txBody>
          <a:bodyPr>
            <a:normAutofit/>
          </a:bodyPr>
          <a:lstStyle/>
          <a:p>
            <a:r>
              <a:rPr lang="en-US" sz="2400" b="1" dirty="0">
                <a:latin typeface="Times New Roman" panose="02020603050405020304" pitchFamily="18" charset="0"/>
                <a:cs typeface="Times New Roman" panose="02020603050405020304" pitchFamily="18" charset="0"/>
              </a:rPr>
              <a:t>UI Dashboard: Home KPI</a:t>
            </a:r>
            <a:endParaRPr lang="en-IN" sz="54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29902B4-F7C3-9B73-09ED-89DB1B25ADF3}"/>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C9967E8A-E79A-34DD-7DA5-148A6415600A}"/>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9079D3D6-6754-2241-CD0D-499936727133}"/>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B01E471F-0388-63A7-041B-19305D42C0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9" name="Picture 8">
            <a:extLst>
              <a:ext uri="{FF2B5EF4-FFF2-40B4-BE49-F238E27FC236}">
                <a16:creationId xmlns:a16="http://schemas.microsoft.com/office/drawing/2014/main" id="{DD2A7A88-C5AB-EFA3-4181-2CA30B149C45}"/>
              </a:ext>
            </a:extLst>
          </p:cNvPr>
          <p:cNvPicPr>
            <a:picLocks noChangeAspect="1"/>
          </p:cNvPicPr>
          <p:nvPr/>
        </p:nvPicPr>
        <p:blipFill>
          <a:blip r:embed="rId2"/>
          <a:stretch>
            <a:fillRect/>
          </a:stretch>
        </p:blipFill>
        <p:spPr>
          <a:xfrm>
            <a:off x="457200" y="1600200"/>
            <a:ext cx="8300556" cy="4525962"/>
          </a:xfrm>
          <a:prstGeom prst="rect">
            <a:avLst/>
          </a:prstGeom>
        </p:spPr>
      </p:pic>
    </p:spTree>
    <p:extLst>
      <p:ext uri="{BB962C8B-B14F-4D97-AF65-F5344CB8AC3E}">
        <p14:creationId xmlns:p14="http://schemas.microsoft.com/office/powerpoint/2010/main" val="282440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CD121-FCA8-D660-0C6E-B43DE9C2BEB5}"/>
              </a:ext>
            </a:extLst>
          </p:cNvPr>
          <p:cNvSpPr>
            <a:spLocks noGrp="1"/>
          </p:cNvSpPr>
          <p:nvPr>
            <p:ph type="title"/>
          </p:nvPr>
        </p:nvSpPr>
        <p:spPr>
          <a:xfrm>
            <a:off x="268664" y="64370"/>
            <a:ext cx="8229600" cy="1143000"/>
          </a:xfrm>
        </p:spPr>
        <p:txBody>
          <a:bodyPr>
            <a:normAutofit/>
          </a:bodyPr>
          <a:lstStyle/>
          <a:p>
            <a:r>
              <a:rPr lang="en-US" sz="2400" b="1" dirty="0">
                <a:latin typeface="Times New Roman" panose="02020603050405020304" pitchFamily="18" charset="0"/>
                <a:cs typeface="Times New Roman" panose="02020603050405020304" pitchFamily="18" charset="0"/>
              </a:rPr>
              <a:t>UI Dashboard: Energy and Cost Tab</a:t>
            </a:r>
            <a:endParaRPr lang="en-IN" sz="24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6DB019D-EE8C-4C75-7FDF-F94E35A68543}"/>
              </a:ext>
            </a:extLst>
          </p:cNvPr>
          <p:cNvSpPr>
            <a:spLocks noGrp="1"/>
          </p:cNvSpPr>
          <p:nvPr>
            <p:ph type="body" idx="1"/>
          </p:nvPr>
        </p:nvSpPr>
        <p:spPr>
          <a:xfrm>
            <a:off x="457200" y="1034042"/>
            <a:ext cx="8229600" cy="4525963"/>
          </a:xfrm>
        </p:spPr>
        <p:txBody>
          <a:bodyPr/>
          <a:lstStyle/>
          <a:p>
            <a:r>
              <a:rPr lang="en-US" sz="1600" b="1" dirty="0">
                <a:latin typeface="Times New Roman" panose="02020603050405020304" pitchFamily="18" charset="0"/>
                <a:cs typeface="Times New Roman" panose="02020603050405020304" pitchFamily="18" charset="0"/>
              </a:rPr>
              <a:t>Purpose: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Anomaly Tab: Residual Z-score feed with severity chips (High/Medium/Low), source attribution (device, zone, dept), dual KPI cards (Net Anomalies + Any-Device Anomaly Days), and severity distribution chart. Carbon Tab: CO₂ timeseries with department-level breakdown using co2_kg = total_kwh × emission_factor.</a:t>
            </a:r>
          </a:p>
          <a:p>
            <a:pPr marL="114300" indent="0">
              <a:buNone/>
            </a:pPr>
            <a:endParaRPr lang="en-IN" dirty="0"/>
          </a:p>
        </p:txBody>
      </p:sp>
      <p:sp>
        <p:nvSpPr>
          <p:cNvPr id="4" name="Date Placeholder 3">
            <a:extLst>
              <a:ext uri="{FF2B5EF4-FFF2-40B4-BE49-F238E27FC236}">
                <a16:creationId xmlns:a16="http://schemas.microsoft.com/office/drawing/2014/main" id="{0017E521-9C72-FC46-18E5-16E3C55583F3}"/>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4655829F-128B-1FA9-0497-8179C3C4B926}"/>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A4A72773-74AD-9621-9EEB-3A2AB413C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9" name="Picture 8">
            <a:extLst>
              <a:ext uri="{FF2B5EF4-FFF2-40B4-BE49-F238E27FC236}">
                <a16:creationId xmlns:a16="http://schemas.microsoft.com/office/drawing/2014/main" id="{AB573894-1211-6186-CF5A-733746C865EF}"/>
              </a:ext>
            </a:extLst>
          </p:cNvPr>
          <p:cNvPicPr>
            <a:picLocks noChangeAspect="1"/>
          </p:cNvPicPr>
          <p:nvPr/>
        </p:nvPicPr>
        <p:blipFill>
          <a:blip r:embed="rId2"/>
          <a:stretch>
            <a:fillRect/>
          </a:stretch>
        </p:blipFill>
        <p:spPr>
          <a:xfrm>
            <a:off x="669049" y="2554664"/>
            <a:ext cx="8284451" cy="4086520"/>
          </a:xfrm>
          <a:prstGeom prst="rect">
            <a:avLst/>
          </a:prstGeom>
        </p:spPr>
      </p:pic>
    </p:spTree>
    <p:extLst>
      <p:ext uri="{BB962C8B-B14F-4D97-AF65-F5344CB8AC3E}">
        <p14:creationId xmlns:p14="http://schemas.microsoft.com/office/powerpoint/2010/main" val="1229313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9B5E3-4967-0C76-9530-C258F2498E5F}"/>
              </a:ext>
            </a:extLst>
          </p:cNvPr>
          <p:cNvSpPr>
            <a:spLocks noGrp="1"/>
          </p:cNvSpPr>
          <p:nvPr>
            <p:ph type="title"/>
          </p:nvPr>
        </p:nvSpPr>
        <p:spPr>
          <a:xfrm>
            <a:off x="212103" y="136525"/>
            <a:ext cx="8229600" cy="1143000"/>
          </a:xfrm>
        </p:spPr>
        <p:txBody>
          <a:bodyPr>
            <a:normAutofit/>
          </a:bodyPr>
          <a:lstStyle/>
          <a:p>
            <a:r>
              <a:rPr lang="en-US" sz="2400" b="1" dirty="0">
                <a:latin typeface="Times New Roman" panose="02020603050405020304" pitchFamily="18" charset="0"/>
                <a:cs typeface="Times New Roman" panose="02020603050405020304" pitchFamily="18" charset="0"/>
              </a:rPr>
              <a:t>UI Dashboard: Anomalies Tab</a:t>
            </a:r>
            <a:endParaRPr lang="en-IN" sz="2400" dirty="0"/>
          </a:p>
        </p:txBody>
      </p:sp>
      <p:sp>
        <p:nvSpPr>
          <p:cNvPr id="3" name="Text Placeholder 2">
            <a:extLst>
              <a:ext uri="{FF2B5EF4-FFF2-40B4-BE49-F238E27FC236}">
                <a16:creationId xmlns:a16="http://schemas.microsoft.com/office/drawing/2014/main" id="{C054E7EC-382E-8F98-27BD-DF6AE11520FE}"/>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FD3290C3-109D-3F10-6177-EB5330ABB171}"/>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B99AD219-F09F-AC7A-5799-161631516BB4}"/>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503A2811-2350-94FC-F0C6-0F54F92FF75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8" name="Picture 7">
            <a:extLst>
              <a:ext uri="{FF2B5EF4-FFF2-40B4-BE49-F238E27FC236}">
                <a16:creationId xmlns:a16="http://schemas.microsoft.com/office/drawing/2014/main" id="{DD35AC79-CF0C-0E12-FB81-7A1CBEEB79CE}"/>
              </a:ext>
            </a:extLst>
          </p:cNvPr>
          <p:cNvPicPr>
            <a:picLocks noChangeAspect="1"/>
          </p:cNvPicPr>
          <p:nvPr/>
        </p:nvPicPr>
        <p:blipFill>
          <a:blip r:embed="rId2"/>
          <a:stretch>
            <a:fillRect/>
          </a:stretch>
        </p:blipFill>
        <p:spPr>
          <a:xfrm>
            <a:off x="463485" y="1600200"/>
            <a:ext cx="8504434" cy="4734748"/>
          </a:xfrm>
          <a:prstGeom prst="rect">
            <a:avLst/>
          </a:prstGeom>
        </p:spPr>
      </p:pic>
    </p:spTree>
    <p:extLst>
      <p:ext uri="{BB962C8B-B14F-4D97-AF65-F5344CB8AC3E}">
        <p14:creationId xmlns:p14="http://schemas.microsoft.com/office/powerpoint/2010/main" val="1282256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1E61-5A6C-FC38-3515-33CAF47907F6}"/>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UI Dashboard: Forecasting Tab</a:t>
            </a:r>
            <a:endParaRPr lang="en-IN" sz="2400" dirty="0"/>
          </a:p>
        </p:txBody>
      </p:sp>
      <p:sp>
        <p:nvSpPr>
          <p:cNvPr id="3" name="Text Placeholder 2">
            <a:extLst>
              <a:ext uri="{FF2B5EF4-FFF2-40B4-BE49-F238E27FC236}">
                <a16:creationId xmlns:a16="http://schemas.microsoft.com/office/drawing/2014/main" id="{260C00C9-0952-04D9-3CD5-9EE099D22B94}"/>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26612B1B-FF79-5C07-56DD-AA2A4C8A083A}"/>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917B1C5F-86DC-944E-5768-92FE6BF267DF}"/>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21344540-09C6-B13A-EF49-9BEDE793E0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8" name="Picture 7">
            <a:extLst>
              <a:ext uri="{FF2B5EF4-FFF2-40B4-BE49-F238E27FC236}">
                <a16:creationId xmlns:a16="http://schemas.microsoft.com/office/drawing/2014/main" id="{BD622ED6-82F9-D010-8859-24B4FA2041F5}"/>
              </a:ext>
            </a:extLst>
          </p:cNvPr>
          <p:cNvPicPr>
            <a:picLocks noChangeAspect="1"/>
          </p:cNvPicPr>
          <p:nvPr/>
        </p:nvPicPr>
        <p:blipFill>
          <a:blip r:embed="rId2"/>
          <a:stretch>
            <a:fillRect/>
          </a:stretch>
        </p:blipFill>
        <p:spPr>
          <a:xfrm>
            <a:off x="457200" y="1365819"/>
            <a:ext cx="8427563" cy="4875437"/>
          </a:xfrm>
          <a:prstGeom prst="rect">
            <a:avLst/>
          </a:prstGeom>
        </p:spPr>
      </p:pic>
    </p:spTree>
    <p:extLst>
      <p:ext uri="{BB962C8B-B14F-4D97-AF65-F5344CB8AC3E}">
        <p14:creationId xmlns:p14="http://schemas.microsoft.com/office/powerpoint/2010/main" val="414802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EA844-EFEA-7A31-0DD3-808874F353EA}"/>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UI Dashboard: Carbon Tab</a:t>
            </a:r>
            <a:endParaRPr lang="en-IN" sz="2400" dirty="0"/>
          </a:p>
        </p:txBody>
      </p:sp>
      <p:sp>
        <p:nvSpPr>
          <p:cNvPr id="3" name="Text Placeholder 2">
            <a:extLst>
              <a:ext uri="{FF2B5EF4-FFF2-40B4-BE49-F238E27FC236}">
                <a16:creationId xmlns:a16="http://schemas.microsoft.com/office/drawing/2014/main" id="{275F608C-C199-28E5-133F-DA2D970618A6}"/>
              </a:ext>
            </a:extLst>
          </p:cNvPr>
          <p:cNvSpPr>
            <a:spLocks noGrp="1"/>
          </p:cNvSpPr>
          <p:nvPr>
            <p:ph type="body" idx="1"/>
          </p:nvPr>
        </p:nvSpPr>
        <p:spPr/>
        <p:txBody>
          <a:bodyPr/>
          <a:lstStyle/>
          <a:p>
            <a:endParaRPr lang="en-IN" dirty="0"/>
          </a:p>
        </p:txBody>
      </p:sp>
      <p:sp>
        <p:nvSpPr>
          <p:cNvPr id="4" name="Date Placeholder 3">
            <a:extLst>
              <a:ext uri="{FF2B5EF4-FFF2-40B4-BE49-F238E27FC236}">
                <a16:creationId xmlns:a16="http://schemas.microsoft.com/office/drawing/2014/main" id="{A7015CAF-4DCB-2FC9-4628-5E851B381F5F}"/>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A10AF58E-77E5-E552-376A-D1DEEC64807F}"/>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63D21642-2809-807D-99B0-847141FE7CF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pic>
        <p:nvPicPr>
          <p:cNvPr id="8" name="Picture 7">
            <a:extLst>
              <a:ext uri="{FF2B5EF4-FFF2-40B4-BE49-F238E27FC236}">
                <a16:creationId xmlns:a16="http://schemas.microsoft.com/office/drawing/2014/main" id="{DD2ECE71-346D-9728-D27F-5F468ABFA704}"/>
              </a:ext>
            </a:extLst>
          </p:cNvPr>
          <p:cNvPicPr>
            <a:picLocks noChangeAspect="1"/>
          </p:cNvPicPr>
          <p:nvPr/>
        </p:nvPicPr>
        <p:blipFill>
          <a:blip r:embed="rId2"/>
          <a:stretch>
            <a:fillRect/>
          </a:stretch>
        </p:blipFill>
        <p:spPr>
          <a:xfrm>
            <a:off x="296984" y="1600200"/>
            <a:ext cx="8389816" cy="4525962"/>
          </a:xfrm>
          <a:prstGeom prst="rect">
            <a:avLst/>
          </a:prstGeom>
        </p:spPr>
      </p:pic>
    </p:spTree>
    <p:extLst>
      <p:ext uri="{BB962C8B-B14F-4D97-AF65-F5344CB8AC3E}">
        <p14:creationId xmlns:p14="http://schemas.microsoft.com/office/powerpoint/2010/main" val="507561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DB598-910D-9184-F806-D46D1017BFC7}"/>
              </a:ext>
            </a:extLst>
          </p:cNvPr>
          <p:cNvSpPr>
            <a:spLocks noGrp="1"/>
          </p:cNvSpPr>
          <p:nvPr>
            <p:ph type="title"/>
          </p:nvPr>
        </p:nvSpPr>
        <p:spPr>
          <a:xfrm>
            <a:off x="325225" y="245553"/>
            <a:ext cx="8229600" cy="1143000"/>
          </a:xfrm>
        </p:spPr>
        <p:txBody>
          <a:bodyPr>
            <a:normAutofit/>
          </a:bodyPr>
          <a:lstStyle/>
          <a:p>
            <a:r>
              <a:rPr lang="en-IN" sz="2400" b="1" dirty="0">
                <a:latin typeface="Times New Roman" panose="02020603050405020304" pitchFamily="18" charset="0"/>
                <a:cs typeface="Times New Roman" panose="02020603050405020304" pitchFamily="18" charset="0"/>
              </a:rPr>
              <a:t>Department and Device Filters</a:t>
            </a:r>
          </a:p>
        </p:txBody>
      </p:sp>
      <p:sp>
        <p:nvSpPr>
          <p:cNvPr id="4" name="Date Placeholder 3">
            <a:extLst>
              <a:ext uri="{FF2B5EF4-FFF2-40B4-BE49-F238E27FC236}">
                <a16:creationId xmlns:a16="http://schemas.microsoft.com/office/drawing/2014/main" id="{65F13945-7D07-CED5-651B-D97B24589458}"/>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A0697330-9FD7-B8DA-A1E1-9DC7C6F3E389}"/>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5A359149-2C0E-D12B-E2A5-87322A82DF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pic>
        <p:nvPicPr>
          <p:cNvPr id="12" name="Picture 11">
            <a:extLst>
              <a:ext uri="{FF2B5EF4-FFF2-40B4-BE49-F238E27FC236}">
                <a16:creationId xmlns:a16="http://schemas.microsoft.com/office/drawing/2014/main" id="{9089237D-CA44-AED8-4A3F-7D9A74335679}"/>
              </a:ext>
            </a:extLst>
          </p:cNvPr>
          <p:cNvPicPr>
            <a:picLocks noChangeAspect="1"/>
          </p:cNvPicPr>
          <p:nvPr/>
        </p:nvPicPr>
        <p:blipFill>
          <a:blip r:embed="rId2"/>
          <a:stretch>
            <a:fillRect/>
          </a:stretch>
        </p:blipFill>
        <p:spPr>
          <a:xfrm>
            <a:off x="1044803" y="1532731"/>
            <a:ext cx="6575197" cy="1988576"/>
          </a:xfrm>
          <a:prstGeom prst="rect">
            <a:avLst/>
          </a:prstGeom>
        </p:spPr>
      </p:pic>
      <p:pic>
        <p:nvPicPr>
          <p:cNvPr id="16" name="Picture 15">
            <a:extLst>
              <a:ext uri="{FF2B5EF4-FFF2-40B4-BE49-F238E27FC236}">
                <a16:creationId xmlns:a16="http://schemas.microsoft.com/office/drawing/2014/main" id="{F2F42E1C-4898-5B3A-091A-828D0831E92A}"/>
              </a:ext>
            </a:extLst>
          </p:cNvPr>
          <p:cNvPicPr>
            <a:picLocks noChangeAspect="1"/>
          </p:cNvPicPr>
          <p:nvPr/>
        </p:nvPicPr>
        <p:blipFill>
          <a:blip r:embed="rId3"/>
          <a:stretch>
            <a:fillRect/>
          </a:stretch>
        </p:blipFill>
        <p:spPr>
          <a:xfrm>
            <a:off x="1044802" y="3665484"/>
            <a:ext cx="6575197" cy="2546688"/>
          </a:xfrm>
          <a:prstGeom prst="rect">
            <a:avLst/>
          </a:prstGeom>
        </p:spPr>
      </p:pic>
    </p:spTree>
    <p:extLst>
      <p:ext uri="{BB962C8B-B14F-4D97-AF65-F5344CB8AC3E}">
        <p14:creationId xmlns:p14="http://schemas.microsoft.com/office/powerpoint/2010/main" val="1862113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8ED6B-2C28-3DB2-9277-56115D6A23B6}"/>
              </a:ext>
            </a:extLst>
          </p:cNvPr>
          <p:cNvSpPr>
            <a:spLocks noGrp="1"/>
          </p:cNvSpPr>
          <p:nvPr>
            <p:ph type="title"/>
          </p:nvPr>
        </p:nvSpPr>
        <p:spPr>
          <a:xfrm>
            <a:off x="-158262" y="213091"/>
            <a:ext cx="8229600" cy="1143000"/>
          </a:xfrm>
        </p:spPr>
        <p:txBody>
          <a:bodyPr/>
          <a:lstStyle/>
          <a:p>
            <a:r>
              <a:rPr lang="en-IN"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Objectives</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D5AC7F7-D84A-E8FA-D078-4A426793BD6A}"/>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8123F689-EB1E-3F58-C43B-6EDD5714E41F}"/>
              </a:ext>
            </a:extLst>
          </p:cNvPr>
          <p:cNvSpPr>
            <a:spLocks noGrp="1"/>
          </p:cNvSpPr>
          <p:nvPr>
            <p:ph type="ftr" idx="11"/>
          </p:nvPr>
        </p:nvSpPr>
        <p:spPr/>
        <p:txBody>
          <a:bodyPr/>
          <a:lstStyle/>
          <a:p>
            <a:endParaRPr lang="en-IN" dirty="0"/>
          </a:p>
        </p:txBody>
      </p:sp>
      <p:sp>
        <p:nvSpPr>
          <p:cNvPr id="6" name="Slide Number Placeholder 5">
            <a:extLst>
              <a:ext uri="{FF2B5EF4-FFF2-40B4-BE49-F238E27FC236}">
                <a16:creationId xmlns:a16="http://schemas.microsoft.com/office/drawing/2014/main" id="{DAE0DB0D-6AFA-8E9E-14C9-C2FC834FB7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pic>
        <p:nvPicPr>
          <p:cNvPr id="7" name="Google Shape;98;p2">
            <a:extLst>
              <a:ext uri="{FF2B5EF4-FFF2-40B4-BE49-F238E27FC236}">
                <a16:creationId xmlns:a16="http://schemas.microsoft.com/office/drawing/2014/main" id="{22E02F79-867E-850E-C4E8-B21897C39573}"/>
              </a:ext>
            </a:extLst>
          </p:cNvPr>
          <p:cNvPicPr preferRelativeResize="0"/>
          <p:nvPr/>
        </p:nvPicPr>
        <p:blipFill rotWithShape="1">
          <a:blip r:embed="rId2">
            <a:alphaModFix/>
          </a:blip>
          <a:srcRect/>
          <a:stretch/>
        </p:blipFill>
        <p:spPr>
          <a:xfrm>
            <a:off x="282722" y="535768"/>
            <a:ext cx="2237740" cy="755015"/>
          </a:xfrm>
          <a:prstGeom prst="rect">
            <a:avLst/>
          </a:prstGeom>
          <a:noFill/>
          <a:ln>
            <a:noFill/>
          </a:ln>
        </p:spPr>
      </p:pic>
      <p:sp>
        <p:nvSpPr>
          <p:cNvPr id="8" name="Rectangle 1">
            <a:extLst>
              <a:ext uri="{FF2B5EF4-FFF2-40B4-BE49-F238E27FC236}">
                <a16:creationId xmlns:a16="http://schemas.microsoft.com/office/drawing/2014/main" id="{3232A018-9081-34CE-3211-027C84BC89F0}"/>
              </a:ext>
            </a:extLst>
          </p:cNvPr>
          <p:cNvSpPr>
            <a:spLocks noGrp="1" noChangeArrowheads="1"/>
          </p:cNvSpPr>
          <p:nvPr>
            <p:ph type="body" idx="1"/>
          </p:nvPr>
        </p:nvSpPr>
        <p:spPr bwMode="auto">
          <a:xfrm>
            <a:off x="343927" y="1433582"/>
            <a:ext cx="8456145" cy="3990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600" dirty="0">
                <a:latin typeface="Times New Roman" panose="02020603050405020304" pitchFamily="18" charset="0"/>
                <a:cs typeface="Times New Roman" panose="02020603050405020304" pitchFamily="18" charset="0"/>
              </a:rPr>
              <a:t>Design and develop - an AI-driven Smart Energy Optimisation and Carbon Analytics Platform enabling organisations to monitor, analyse, and optimise energy consumption in a structured and intelligent manner.</a:t>
            </a:r>
          </a:p>
          <a:p>
            <a:pPr algn="just"/>
            <a:r>
              <a:rPr lang="en-US" sz="1600" dirty="0">
                <a:latin typeface="Times New Roman" panose="02020603050405020304" pitchFamily="18" charset="0"/>
                <a:cs typeface="Times New Roman" panose="02020603050405020304" pitchFamily="18" charset="0"/>
              </a:rPr>
              <a:t>Collect and process energy data from CSV/IoT sources into daily analytics (energy_agg_daily) providing visibility across devices and departments. Establish rolling baseline_kwh per device/dept, enabling residual Z-score anomaly detection: anomaly_score = (actual_kwh − baseline_kwh) / stddev with High/Medium/Low severity classification.</a:t>
            </a:r>
          </a:p>
          <a:p>
            <a:pPr algn="just"/>
            <a:r>
              <a:rPr lang="en-US" sz="1600" dirty="0">
                <a:latin typeface="Times New Roman" panose="02020603050405020304" pitchFamily="18" charset="0"/>
                <a:cs typeface="Times New Roman" panose="02020603050405020304" pitchFamily="18" charset="0"/>
              </a:rPr>
              <a:t>Deliver predictive analytics via forecasting module (predicted_kwh with confidence bands), carbon emission estimation (co2_kg = total_kwh × emission_factor by source/region), and a centralised INR tariff utility (Rs 8.2/kWh) for consistent cost reporting. Implement JWT + bcrypt authentication with Admin/User/Viewer RBAC, and profile/password management APIs.</a:t>
            </a:r>
          </a:p>
          <a:p>
            <a:pPr algn="just"/>
            <a:r>
              <a:rPr lang="en-US" sz="1600" dirty="0">
                <a:latin typeface="Times New Roman" panose="02020603050405020304" pitchFamily="18" charset="0"/>
                <a:cs typeface="Times New Roman" panose="02020603050405020304" pitchFamily="18" charset="0"/>
              </a:rPr>
              <a:t>Provide a scalable, modular FastAPI + Next.js solution with a 17-table PostgreSQL schema, supporting energy efficiency, INR cost optimisation, and alignment with SDG-7 (Affordable and Clean Energy) and SDG-13 (Climate Action).</a:t>
            </a:r>
          </a:p>
        </p:txBody>
      </p:sp>
    </p:spTree>
    <p:extLst>
      <p:ext uri="{BB962C8B-B14F-4D97-AF65-F5344CB8AC3E}">
        <p14:creationId xmlns:p14="http://schemas.microsoft.com/office/powerpoint/2010/main" val="2615258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55690-E1ED-3578-EBC5-F35C199ABE3A}"/>
              </a:ext>
            </a:extLst>
          </p:cNvPr>
          <p:cNvSpPr>
            <a:spLocks noGrp="1"/>
          </p:cNvSpPr>
          <p:nvPr>
            <p:ph type="title"/>
          </p:nvPr>
        </p:nvSpPr>
        <p:spPr>
          <a:xfrm>
            <a:off x="-158714" y="227013"/>
            <a:ext cx="8229600" cy="1143000"/>
          </a:xfrm>
        </p:spPr>
        <p:txBody>
          <a:bodyPr/>
          <a:lstStyle/>
          <a:p>
            <a:r>
              <a:rPr lang="en-IN"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SDG Alignment</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7E15BF4-A07F-C0F9-9A67-E28346D03B53}"/>
              </a:ext>
            </a:extLst>
          </p:cNvPr>
          <p:cNvSpPr>
            <a:spLocks noGrp="1"/>
          </p:cNvSpPr>
          <p:nvPr>
            <p:ph type="body" idx="1"/>
          </p:nvPr>
        </p:nvSpPr>
        <p:spPr/>
        <p:txBody>
          <a:bodyPr>
            <a:normAutofit/>
          </a:bodyPr>
          <a:lstStyle/>
          <a:p>
            <a:pPr marL="114300" indent="0" algn="just">
              <a:buNone/>
            </a:pPr>
            <a:r>
              <a:rPr lang="en-US" sz="1600" dirty="0">
                <a:latin typeface="Times New Roman" panose="02020603050405020304" pitchFamily="18" charset="0"/>
                <a:cs typeface="Times New Roman" panose="02020603050405020304" pitchFamily="18" charset="0"/>
              </a:rPr>
              <a:t>AI-Driven Smart Energy Optimization and Carbon Analytics Platform — aligns with the following United Nations Sustainable Development Goals (SDGs):</a:t>
            </a:r>
            <a:br>
              <a:rPr lang="en-US" sz="1600" b="1" dirty="0"/>
            </a:br>
            <a:endParaRPr lang="en-US" sz="1600" dirty="0"/>
          </a:p>
          <a:p>
            <a:pPr marL="114300" indent="0" algn="just">
              <a:buNone/>
            </a:pPr>
            <a:r>
              <a:rPr lang="en-US" sz="1600" dirty="0">
                <a:latin typeface="Times New Roman" panose="02020603050405020304" pitchFamily="18" charset="0"/>
                <a:cs typeface="Times New Roman" panose="02020603050405020304" pitchFamily="18" charset="0"/>
              </a:rPr>
              <a:t>SDG 7 – Affordable and Clean Energy: Ensure access to affordable, reliable, sustainable, and modern energy for all. EN-VISION promotes efficient energy utilisation through AI-based monitoring, anomaly detection, and demand forecasting. It reduces power wastage by identifying anomalies via residual Z-score scoring. </a:t>
            </a:r>
            <a:r>
              <a:rPr lang="en-US" sz="1600" dirty="0" err="1">
                <a:latin typeface="Times New Roman" panose="02020603050405020304" pitchFamily="18" charset="0"/>
                <a:cs typeface="Times New Roman" panose="02020603050405020304" pitchFamily="18" charset="0"/>
              </a:rPr>
              <a:t>utilisation</a:t>
            </a:r>
            <a:r>
              <a:rPr lang="en-US" sz="1600" dirty="0">
                <a:latin typeface="Times New Roman" panose="02020603050405020304" pitchFamily="18" charset="0"/>
                <a:cs typeface="Times New Roman" panose="02020603050405020304" pitchFamily="18" charset="0"/>
              </a:rPr>
              <a:t>Centralised INR tariff utility (Rs 8.2/kWh) provides financial clarity for energy optimisation decisions within enterprises.</a:t>
            </a:r>
          </a:p>
          <a:p>
            <a:pPr marL="114300" indent="0" algn="just">
              <a:buNone/>
            </a:pPr>
            <a:endParaRPr lang="en-US" sz="1600" dirty="0">
              <a:latin typeface="Times New Roman" panose="02020603050405020304" pitchFamily="18" charset="0"/>
              <a:cs typeface="Times New Roman" panose="02020603050405020304" pitchFamily="18" charset="0"/>
            </a:endParaRPr>
          </a:p>
          <a:p>
            <a:pPr marL="114300" indent="0" algn="just">
              <a:buNone/>
            </a:pPr>
            <a:r>
              <a:rPr lang="en-US" sz="1600" dirty="0">
                <a:latin typeface="Times New Roman" panose="02020603050405020304" pitchFamily="18" charset="0"/>
                <a:cs typeface="Times New Roman" panose="02020603050405020304" pitchFamily="18" charset="0"/>
              </a:rPr>
              <a:t> SDG 13 – Climate Action: Take urgent action to combat climate change and its impacts. EN-VISION calculates and visualises CO₂ emission equivalents (co2_kg = total_kwh × emission_factor) by department and source type. It assists organisations in measuring and reducing their carbon footprint through predictive insights and Scope 1/2/3 emission records. Supports ESG compliance and global sustainability objectives.</a:t>
            </a:r>
            <a:endParaRPr lang="en-IN" sz="16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034FBDE-6B52-3623-B511-7E79B148FF23}"/>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4DA9513C-01C1-72F7-38B2-7A539D208D14}"/>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70735726-3D30-A1DE-6120-27361D4404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dirty="0"/>
          </a:p>
        </p:txBody>
      </p:sp>
      <p:pic>
        <p:nvPicPr>
          <p:cNvPr id="7" name="Google Shape;98;p2">
            <a:extLst>
              <a:ext uri="{FF2B5EF4-FFF2-40B4-BE49-F238E27FC236}">
                <a16:creationId xmlns:a16="http://schemas.microsoft.com/office/drawing/2014/main" id="{C56033F8-F81B-C692-F8C7-C9F6A3044AC9}"/>
              </a:ext>
            </a:extLst>
          </p:cNvPr>
          <p:cNvPicPr preferRelativeResize="0"/>
          <p:nvPr/>
        </p:nvPicPr>
        <p:blipFill rotWithShape="1">
          <a:blip r:embed="rId2">
            <a:alphaModFix/>
          </a:blip>
          <a:srcRect/>
          <a:stretch/>
        </p:blipFill>
        <p:spPr>
          <a:xfrm>
            <a:off x="282722" y="535768"/>
            <a:ext cx="2237740" cy="755015"/>
          </a:xfrm>
          <a:prstGeom prst="rect">
            <a:avLst/>
          </a:prstGeom>
          <a:noFill/>
          <a:ln>
            <a:noFill/>
          </a:ln>
        </p:spPr>
      </p:pic>
    </p:spTree>
    <p:extLst>
      <p:ext uri="{BB962C8B-B14F-4D97-AF65-F5344CB8AC3E}">
        <p14:creationId xmlns:p14="http://schemas.microsoft.com/office/powerpoint/2010/main" val="549493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9E1E3-C83E-D5D1-69CB-B02C83B2522C}"/>
              </a:ext>
            </a:extLst>
          </p:cNvPr>
          <p:cNvSpPr>
            <a:spLocks noGrp="1"/>
          </p:cNvSpPr>
          <p:nvPr>
            <p:ph type="title"/>
          </p:nvPr>
        </p:nvSpPr>
        <p:spPr>
          <a:xfrm>
            <a:off x="170589" y="227013"/>
            <a:ext cx="8229600" cy="1143000"/>
          </a:xfrm>
        </p:spPr>
        <p:txBody>
          <a:bodyPr/>
          <a:lstStyle/>
          <a:p>
            <a:r>
              <a:rPr lang="en-IN"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4E33511-CCD3-3A44-6CCD-8E3268B871F2}"/>
              </a:ext>
            </a:extLst>
          </p:cNvPr>
          <p:cNvSpPr>
            <a:spLocks noGrp="1"/>
          </p:cNvSpPr>
          <p:nvPr>
            <p:ph type="body" idx="1"/>
          </p:nvPr>
        </p:nvSpPr>
        <p:spPr/>
        <p:txBody>
          <a:bodyPr>
            <a:normAutofit/>
          </a:bodyPr>
          <a:lstStyle/>
          <a:p>
            <a:pPr marL="114300" indent="0" algn="just">
              <a:buNone/>
            </a:pPr>
            <a:r>
              <a:rPr lang="en-US" sz="1600" dirty="0">
                <a:latin typeface="Times New Roman" panose="02020603050405020304" pitchFamily="18" charset="0"/>
                <a:cs typeface="Times New Roman" panose="02020603050405020304" pitchFamily="18" charset="0"/>
              </a:rPr>
              <a:t>This Platform demonstrates how AI-driven analytics can transform traditional energy monitoring into an intelligent, predictive, and sustainability-focused system. By integrating energy monitoring, residual Z-score anomaly detection with source attribution and dual KPI metrics, energy demand forecasting, carbon emission estimation, JWT-based RBAC, and a centralised INR tariff utility, the platform enables organisations to optimise energy usage, reduce operational costs, and minimise environmental impact. The modular FastAPI + Next.js architecture with a 17-table PostgreSQL schema provides a strong foundation for future enhancements including real-time IoT integration, configurable tariff rates, automated audit logging, and enterprise-level deployment.</a:t>
            </a:r>
            <a:endParaRPr lang="en-IN" sz="16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C2F2910-6C73-A2B9-8979-2F6825768D96}"/>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66EF946D-F428-10CC-2515-A10CA09521D9}"/>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924F51CA-DD4E-08E9-EB76-FE35B4B168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pic>
        <p:nvPicPr>
          <p:cNvPr id="7" name="Google Shape;98;p2">
            <a:extLst>
              <a:ext uri="{FF2B5EF4-FFF2-40B4-BE49-F238E27FC236}">
                <a16:creationId xmlns:a16="http://schemas.microsoft.com/office/drawing/2014/main" id="{18FA4101-4D87-B67E-F075-F64E90D485CA}"/>
              </a:ext>
            </a:extLst>
          </p:cNvPr>
          <p:cNvPicPr preferRelativeResize="0"/>
          <p:nvPr/>
        </p:nvPicPr>
        <p:blipFill rotWithShape="1">
          <a:blip r:embed="rId2">
            <a:alphaModFix/>
          </a:blip>
          <a:srcRect/>
          <a:stretch/>
        </p:blipFill>
        <p:spPr>
          <a:xfrm>
            <a:off x="328676" y="467408"/>
            <a:ext cx="2133600" cy="757459"/>
          </a:xfrm>
          <a:prstGeom prst="rect">
            <a:avLst/>
          </a:prstGeom>
          <a:noFill/>
          <a:ln>
            <a:noFill/>
          </a:ln>
        </p:spPr>
      </p:pic>
    </p:spTree>
    <p:extLst>
      <p:ext uri="{BB962C8B-B14F-4D97-AF65-F5344CB8AC3E}">
        <p14:creationId xmlns:p14="http://schemas.microsoft.com/office/powerpoint/2010/main" val="749735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6CD55-B396-0A5F-02C9-C5C6977A667B}"/>
              </a:ext>
            </a:extLst>
          </p:cNvPr>
          <p:cNvSpPr>
            <a:spLocks noGrp="1"/>
          </p:cNvSpPr>
          <p:nvPr>
            <p:ph type="title"/>
          </p:nvPr>
        </p:nvSpPr>
        <p:spPr>
          <a:xfrm>
            <a:off x="-87923" y="227013"/>
            <a:ext cx="8229600" cy="1143000"/>
          </a:xfrm>
        </p:spPr>
        <p:txBody>
          <a:bodyPr/>
          <a:lstStyle/>
          <a:p>
            <a:r>
              <a:rPr lang="en-IN"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Sprint 2 — Key Outcomes Summary</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5C537F6-B2F3-00DC-A525-1B6A97FE430C}"/>
              </a:ext>
            </a:extLst>
          </p:cNvPr>
          <p:cNvSpPr>
            <a:spLocks noGrp="1"/>
          </p:cNvSpPr>
          <p:nvPr>
            <p:ph type="body" idx="1"/>
          </p:nvPr>
        </p:nvSpPr>
        <p:spPr/>
        <p:txBody>
          <a:bodyPr>
            <a:normAutofit/>
          </a:bodyPr>
          <a:lstStyle/>
          <a:p>
            <a:pPr marL="114300" indent="0">
              <a:buNone/>
            </a:pPr>
            <a:r>
              <a:rPr lang="en-US" sz="1600" b="1" dirty="0">
                <a:latin typeface="Times New Roman" panose="02020603050405020304" pitchFamily="18" charset="0"/>
                <a:cs typeface="Times New Roman" panose="02020603050405020304" pitchFamily="18" charset="0"/>
              </a:rPr>
              <a:t>Key Outcomes – Sprint 2</a:t>
            </a:r>
          </a:p>
          <a:p>
            <a:pPr marL="114300" indent="0">
              <a:buNone/>
            </a:pP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Core Architecture: FastAPI + Next.js full-stack platform delivered with 6 analytics tabs.</a:t>
            </a:r>
          </a:p>
          <a:p>
            <a:r>
              <a:rPr lang="en-US" sz="1600" dirty="0">
                <a:latin typeface="Times New Roman" panose="02020603050405020304" pitchFamily="18" charset="0"/>
                <a:cs typeface="Times New Roman" panose="02020603050405020304" pitchFamily="18" charset="0"/>
              </a:rPr>
              <a:t>Anomaly Engine: Residual Z-score scoring with source attribution (device/zone/dept) and dual KPIs (Net Anomalies + Any-Device Anomaly Days).</a:t>
            </a:r>
          </a:p>
          <a:p>
            <a:r>
              <a:rPr lang="en-US" sz="1600" dirty="0">
                <a:latin typeface="Times New Roman" panose="02020603050405020304" pitchFamily="18" charset="0"/>
                <a:cs typeface="Times New Roman" panose="02020603050405020304" pitchFamily="18" charset="0"/>
              </a:rPr>
              <a:t>Auth &amp; RBAC: JWT + bcrypt with Admin/User/Viewer roles. Carbon &amp; Cost: CO₂ analytics + INR tariff utility (Rs 8.2/kWh). Account Mgmt: /profile + /change-password delivered. Next: E2E tests, audit logging, configurable tariff.</a:t>
            </a:r>
          </a:p>
          <a:p>
            <a:endParaRPr lang="en-IN" dirty="0"/>
          </a:p>
        </p:txBody>
      </p:sp>
      <p:sp>
        <p:nvSpPr>
          <p:cNvPr id="4" name="Date Placeholder 3">
            <a:extLst>
              <a:ext uri="{FF2B5EF4-FFF2-40B4-BE49-F238E27FC236}">
                <a16:creationId xmlns:a16="http://schemas.microsoft.com/office/drawing/2014/main" id="{F7E45222-2748-54F8-D970-B733C7A28560}"/>
              </a:ext>
            </a:extLst>
          </p:cNvPr>
          <p:cNvSpPr>
            <a:spLocks noGrp="1"/>
          </p:cNvSpPr>
          <p:nvPr>
            <p:ph type="dt" idx="10"/>
          </p:nvPr>
        </p:nvSpPr>
        <p:spPr/>
        <p:txBody>
          <a:bodyPr/>
          <a:lstStyle/>
          <a:p>
            <a:fld id="{11DF9AFC-F9E1-4479-91CA-51DE23BE06C0}" type="datetime1">
              <a:rPr lang="en-US" smtClean="0"/>
              <a:t>3/7/2026</a:t>
            </a:fld>
            <a:endParaRPr lang="en-US"/>
          </a:p>
        </p:txBody>
      </p:sp>
      <p:sp>
        <p:nvSpPr>
          <p:cNvPr id="5" name="Footer Placeholder 4">
            <a:extLst>
              <a:ext uri="{FF2B5EF4-FFF2-40B4-BE49-F238E27FC236}">
                <a16:creationId xmlns:a16="http://schemas.microsoft.com/office/drawing/2014/main" id="{213EE13F-A650-C603-7E05-85B52F53D324}"/>
              </a:ext>
            </a:extLst>
          </p:cNvPr>
          <p:cNvSpPr>
            <a:spLocks noGrp="1"/>
          </p:cNvSpPr>
          <p:nvPr>
            <p:ph type="ftr" idx="11"/>
          </p:nvPr>
        </p:nvSpPr>
        <p:spPr/>
        <p:txBody>
          <a:bodyPr/>
          <a:lstStyle/>
          <a:p>
            <a:endParaRPr lang="en-IN"/>
          </a:p>
        </p:txBody>
      </p:sp>
      <p:sp>
        <p:nvSpPr>
          <p:cNvPr id="6" name="Slide Number Placeholder 5">
            <a:extLst>
              <a:ext uri="{FF2B5EF4-FFF2-40B4-BE49-F238E27FC236}">
                <a16:creationId xmlns:a16="http://schemas.microsoft.com/office/drawing/2014/main" id="{26EBF897-7022-5DE5-0D2F-83A28FBCD3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pic>
        <p:nvPicPr>
          <p:cNvPr id="7" name="Google Shape;98;p2">
            <a:extLst>
              <a:ext uri="{FF2B5EF4-FFF2-40B4-BE49-F238E27FC236}">
                <a16:creationId xmlns:a16="http://schemas.microsoft.com/office/drawing/2014/main" id="{1D2E70BA-60C5-0F03-7D73-7C39E86F3A79}"/>
              </a:ext>
            </a:extLst>
          </p:cNvPr>
          <p:cNvPicPr preferRelativeResize="0"/>
          <p:nvPr/>
        </p:nvPicPr>
        <p:blipFill rotWithShape="1">
          <a:blip r:embed="rId2">
            <a:alphaModFix/>
          </a:blip>
          <a:srcRect/>
          <a:stretch/>
        </p:blipFill>
        <p:spPr>
          <a:xfrm>
            <a:off x="304292" y="436928"/>
            <a:ext cx="2133600" cy="818419"/>
          </a:xfrm>
          <a:prstGeom prst="rect">
            <a:avLst/>
          </a:prstGeom>
          <a:noFill/>
          <a:ln>
            <a:noFill/>
          </a:ln>
        </p:spPr>
      </p:pic>
    </p:spTree>
    <p:extLst>
      <p:ext uri="{BB962C8B-B14F-4D97-AF65-F5344CB8AC3E}">
        <p14:creationId xmlns:p14="http://schemas.microsoft.com/office/powerpoint/2010/main" val="351168595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425</TotalTime>
  <Words>2539</Words>
  <Application>Microsoft Office PowerPoint</Application>
  <PresentationFormat>On-screen Show (4:3)</PresentationFormat>
  <Paragraphs>277</Paragraphs>
  <Slides>25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Symbol</vt:lpstr>
      <vt:lpstr>Times New Roman</vt:lpstr>
      <vt:lpstr>Office Theme</vt:lpstr>
      <vt:lpstr>AI-Driven Smart Energy Optimization and Carbon Analytics Platform</vt:lpstr>
      <vt:lpstr>     Problem Statement </vt:lpstr>
      <vt:lpstr>      Abstract</vt:lpstr>
      <vt:lpstr>           HIGH-LEVEL SYSTEM ARCHITECTURE</vt:lpstr>
      <vt:lpstr>     DATA FLOW ARCHITECTURE</vt:lpstr>
      <vt:lpstr>   DATABASE DESIGN</vt:lpstr>
      <vt:lpstr>Database tables </vt:lpstr>
      <vt:lpstr>Data Flow Architecture </vt:lpstr>
      <vt:lpstr>Functional Requirements</vt:lpstr>
      <vt:lpstr>  Functional Test Cases </vt:lpstr>
      <vt:lpstr>         Sprint Retrospective </vt:lpstr>
      <vt:lpstr>PowerPoint Presentation</vt:lpstr>
      <vt:lpstr>   Sprint Backlog</vt:lpstr>
      <vt:lpstr>PowerPoint Presentation</vt:lpstr>
      <vt:lpstr>Authentication and Role Based Access Control</vt:lpstr>
      <vt:lpstr>UI Dashboard: Home KPI</vt:lpstr>
      <vt:lpstr>UI Dashboard: Energy and Cost Tab</vt:lpstr>
      <vt:lpstr>UI Dashboard: Anomalies Tab</vt:lpstr>
      <vt:lpstr>UI Dashboard: Forecasting Tab</vt:lpstr>
      <vt:lpstr>UI Dashboard: Carbon Tab</vt:lpstr>
      <vt:lpstr>Department and Device Filters</vt:lpstr>
      <vt:lpstr> Objectives</vt:lpstr>
      <vt:lpstr>          SDG Alignment</vt:lpstr>
      <vt:lpstr>     Conclusion</vt:lpstr>
      <vt:lpstr>      Sprint 2 — Key Outcomes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 of Project&gt;</dc:title>
  <dc:creator>Kevin</dc:creator>
  <cp:lastModifiedBy>Karan B</cp:lastModifiedBy>
  <cp:revision>23</cp:revision>
  <dcterms:created xsi:type="dcterms:W3CDTF">2020-05-13T07:00:09Z</dcterms:created>
  <dcterms:modified xsi:type="dcterms:W3CDTF">2026-03-07T04:55:00Z</dcterms:modified>
</cp:coreProperties>
</file>